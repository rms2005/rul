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rchivo Black" charset="1" panose="020B0A03020202020B04"/>
      <p:regular r:id="rId31"/>
    </p:embeddedFont>
    <p:embeddedFont>
      <p:font typeface="Roboto" charset="1" panose="02000000000000000000"/>
      <p:regular r:id="rId32"/>
    </p:embeddedFont>
    <p:embeddedFont>
      <p:font typeface="Poppins" charset="1" panose="00000500000000000000"/>
      <p:regular r:id="rId33"/>
    </p:embeddedFont>
    <p:embeddedFont>
      <p:font typeface="League Spartan" charset="1" panose="00000800000000000000"/>
      <p:regular r:id="rId34"/>
    </p:embeddedFont>
    <p:embeddedFont>
      <p:font typeface="Telegraf" charset="1" panose="00000500000000000000"/>
      <p:regular r:id="rId35"/>
    </p:embeddedFont>
    <p:embeddedFont>
      <p:font typeface="Poppins Bold"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 Id="rId4" Target="../embeddings/oleObject1.bin" Type="http://schemas.openxmlformats.org/officeDocument/2006/relationships/oleObject"/><Relationship Id="rId5" Target="../media/image6.png" Type="http://schemas.openxmlformats.org/officeDocument/2006/relationships/image"/><Relationship Id="rId6" Target="../embeddings/oleObject2.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595156" cy="10287000"/>
            <a:chOff x="0" y="0"/>
            <a:chExt cx="156749" cy="2709333"/>
          </a:xfrm>
        </p:grpSpPr>
        <p:sp>
          <p:nvSpPr>
            <p:cNvPr name="Freeform 4" id="4"/>
            <p:cNvSpPr/>
            <p:nvPr/>
          </p:nvSpPr>
          <p:spPr>
            <a:xfrm flipH="false" flipV="false" rot="0">
              <a:off x="0" y="0"/>
              <a:ext cx="156749" cy="2709333"/>
            </a:xfrm>
            <a:custGeom>
              <a:avLst/>
              <a:gdLst/>
              <a:ahLst/>
              <a:cxnLst/>
              <a:rect r="r" b="b" t="t" l="l"/>
              <a:pathLst>
                <a:path h="2709333" w="156749">
                  <a:moveTo>
                    <a:pt x="0" y="0"/>
                  </a:moveTo>
                  <a:lnTo>
                    <a:pt x="156749" y="0"/>
                  </a:lnTo>
                  <a:lnTo>
                    <a:pt x="156749" y="2709333"/>
                  </a:lnTo>
                  <a:lnTo>
                    <a:pt x="0" y="2709333"/>
                  </a:lnTo>
                  <a:close/>
                </a:path>
              </a:pathLst>
            </a:custGeom>
            <a:solidFill>
              <a:srgbClr val="004AAD"/>
            </a:solidFill>
          </p:spPr>
        </p:sp>
        <p:sp>
          <p:nvSpPr>
            <p:cNvPr name="TextBox 5" id="5"/>
            <p:cNvSpPr txBox="true"/>
            <p:nvPr/>
          </p:nvSpPr>
          <p:spPr>
            <a:xfrm>
              <a:off x="0" y="-47625"/>
              <a:ext cx="156749"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692844" y="0"/>
            <a:ext cx="595156" cy="10287000"/>
            <a:chOff x="0" y="0"/>
            <a:chExt cx="156749" cy="2709333"/>
          </a:xfrm>
        </p:grpSpPr>
        <p:sp>
          <p:nvSpPr>
            <p:cNvPr name="Freeform 7" id="7"/>
            <p:cNvSpPr/>
            <p:nvPr/>
          </p:nvSpPr>
          <p:spPr>
            <a:xfrm flipH="false" flipV="false" rot="0">
              <a:off x="0" y="0"/>
              <a:ext cx="156749" cy="2709333"/>
            </a:xfrm>
            <a:custGeom>
              <a:avLst/>
              <a:gdLst/>
              <a:ahLst/>
              <a:cxnLst/>
              <a:rect r="r" b="b" t="t" l="l"/>
              <a:pathLst>
                <a:path h="2709333" w="156749">
                  <a:moveTo>
                    <a:pt x="0" y="0"/>
                  </a:moveTo>
                  <a:lnTo>
                    <a:pt x="156749" y="0"/>
                  </a:lnTo>
                  <a:lnTo>
                    <a:pt x="156749" y="2709333"/>
                  </a:lnTo>
                  <a:lnTo>
                    <a:pt x="0" y="2709333"/>
                  </a:lnTo>
                  <a:close/>
                </a:path>
              </a:pathLst>
            </a:custGeom>
            <a:solidFill>
              <a:srgbClr val="004AAD"/>
            </a:solidFill>
          </p:spPr>
        </p:sp>
        <p:sp>
          <p:nvSpPr>
            <p:cNvPr name="TextBox 8" id="8"/>
            <p:cNvSpPr txBox="true"/>
            <p:nvPr/>
          </p:nvSpPr>
          <p:spPr>
            <a:xfrm>
              <a:off x="0" y="-47625"/>
              <a:ext cx="156749" cy="275695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92397" y="0"/>
            <a:ext cx="18802350" cy="641250"/>
            <a:chOff x="0" y="0"/>
            <a:chExt cx="4952059" cy="168889"/>
          </a:xfrm>
        </p:grpSpPr>
        <p:sp>
          <p:nvSpPr>
            <p:cNvPr name="Freeform 10" id="10"/>
            <p:cNvSpPr/>
            <p:nvPr/>
          </p:nvSpPr>
          <p:spPr>
            <a:xfrm flipH="false" flipV="false" rot="0">
              <a:off x="0" y="0"/>
              <a:ext cx="4952059" cy="168889"/>
            </a:xfrm>
            <a:custGeom>
              <a:avLst/>
              <a:gdLst/>
              <a:ahLst/>
              <a:cxnLst/>
              <a:rect r="r" b="b" t="t" l="l"/>
              <a:pathLst>
                <a:path h="168889" w="4952059">
                  <a:moveTo>
                    <a:pt x="20999" y="0"/>
                  </a:moveTo>
                  <a:lnTo>
                    <a:pt x="4931060" y="0"/>
                  </a:lnTo>
                  <a:cubicBezTo>
                    <a:pt x="4936629" y="0"/>
                    <a:pt x="4941970" y="2212"/>
                    <a:pt x="4945909" y="6151"/>
                  </a:cubicBezTo>
                  <a:cubicBezTo>
                    <a:pt x="4949847" y="10089"/>
                    <a:pt x="4952059" y="15430"/>
                    <a:pt x="4952059" y="20999"/>
                  </a:cubicBezTo>
                  <a:lnTo>
                    <a:pt x="4952059" y="147889"/>
                  </a:lnTo>
                  <a:cubicBezTo>
                    <a:pt x="4952059" y="159487"/>
                    <a:pt x="4942658" y="168889"/>
                    <a:pt x="4931060" y="168889"/>
                  </a:cubicBezTo>
                  <a:lnTo>
                    <a:pt x="20999" y="168889"/>
                  </a:lnTo>
                  <a:cubicBezTo>
                    <a:pt x="9402" y="168889"/>
                    <a:pt x="0" y="159487"/>
                    <a:pt x="0" y="147889"/>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11" id="11"/>
            <p:cNvSpPr txBox="true"/>
            <p:nvPr/>
          </p:nvSpPr>
          <p:spPr>
            <a:xfrm>
              <a:off x="0" y="-47625"/>
              <a:ext cx="4952059" cy="21651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57175" y="9645750"/>
            <a:ext cx="18802350" cy="641250"/>
            <a:chOff x="0" y="0"/>
            <a:chExt cx="4952059" cy="168889"/>
          </a:xfrm>
        </p:grpSpPr>
        <p:sp>
          <p:nvSpPr>
            <p:cNvPr name="Freeform 13" id="13"/>
            <p:cNvSpPr/>
            <p:nvPr/>
          </p:nvSpPr>
          <p:spPr>
            <a:xfrm flipH="false" flipV="false" rot="0">
              <a:off x="0" y="0"/>
              <a:ext cx="4952059" cy="168889"/>
            </a:xfrm>
            <a:custGeom>
              <a:avLst/>
              <a:gdLst/>
              <a:ahLst/>
              <a:cxnLst/>
              <a:rect r="r" b="b" t="t" l="l"/>
              <a:pathLst>
                <a:path h="168889" w="4952059">
                  <a:moveTo>
                    <a:pt x="20999" y="0"/>
                  </a:moveTo>
                  <a:lnTo>
                    <a:pt x="4931060" y="0"/>
                  </a:lnTo>
                  <a:cubicBezTo>
                    <a:pt x="4936629" y="0"/>
                    <a:pt x="4941970" y="2212"/>
                    <a:pt x="4945909" y="6151"/>
                  </a:cubicBezTo>
                  <a:cubicBezTo>
                    <a:pt x="4949847" y="10089"/>
                    <a:pt x="4952059" y="15430"/>
                    <a:pt x="4952059" y="20999"/>
                  </a:cubicBezTo>
                  <a:lnTo>
                    <a:pt x="4952059" y="147889"/>
                  </a:lnTo>
                  <a:cubicBezTo>
                    <a:pt x="4952059" y="159487"/>
                    <a:pt x="4942658" y="168889"/>
                    <a:pt x="4931060" y="168889"/>
                  </a:cubicBezTo>
                  <a:lnTo>
                    <a:pt x="20999" y="168889"/>
                  </a:lnTo>
                  <a:cubicBezTo>
                    <a:pt x="9402" y="168889"/>
                    <a:pt x="0" y="159487"/>
                    <a:pt x="0" y="147889"/>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14" id="14"/>
            <p:cNvSpPr txBox="true"/>
            <p:nvPr/>
          </p:nvSpPr>
          <p:spPr>
            <a:xfrm>
              <a:off x="0" y="-47625"/>
              <a:ext cx="4952059" cy="21651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740515" y="886142"/>
            <a:ext cx="2847303" cy="2957522"/>
          </a:xfrm>
          <a:custGeom>
            <a:avLst/>
            <a:gdLst/>
            <a:ahLst/>
            <a:cxnLst/>
            <a:rect r="r" b="b" t="t" l="l"/>
            <a:pathLst>
              <a:path h="2957522" w="2847303">
                <a:moveTo>
                  <a:pt x="0" y="0"/>
                </a:moveTo>
                <a:lnTo>
                  <a:pt x="2847304" y="0"/>
                </a:lnTo>
                <a:lnTo>
                  <a:pt x="2847304" y="2957522"/>
                </a:lnTo>
                <a:lnTo>
                  <a:pt x="0" y="2957522"/>
                </a:lnTo>
                <a:lnTo>
                  <a:pt x="0" y="0"/>
                </a:lnTo>
                <a:close/>
              </a:path>
            </a:pathLst>
          </a:custGeom>
          <a:blipFill>
            <a:blip r:embed="rId3"/>
            <a:stretch>
              <a:fillRect l="0" t="0" r="0" b="0"/>
            </a:stretch>
          </a:blipFill>
        </p:spPr>
      </p:sp>
      <p:sp>
        <p:nvSpPr>
          <p:cNvPr name="TextBox 16" id="16"/>
          <p:cNvSpPr txBox="true"/>
          <p:nvPr/>
        </p:nvSpPr>
        <p:spPr>
          <a:xfrm rot="0">
            <a:off x="2603181" y="819467"/>
            <a:ext cx="12137335" cy="1109345"/>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rchivo Black"/>
                <a:ea typeface="Archivo Black"/>
                <a:cs typeface="Archivo Black"/>
                <a:sym typeface="Archivo Black"/>
              </a:rPr>
              <a:t>Remaining Useful Life Prediction of Aircraft Engines Using Machine Learning and Deep Learning</a:t>
            </a:r>
          </a:p>
        </p:txBody>
      </p:sp>
      <p:sp>
        <p:nvSpPr>
          <p:cNvPr name="TextBox 17" id="17"/>
          <p:cNvSpPr txBox="true"/>
          <p:nvPr/>
        </p:nvSpPr>
        <p:spPr>
          <a:xfrm rot="0">
            <a:off x="8555673" y="2706271"/>
            <a:ext cx="588327" cy="620157"/>
          </a:xfrm>
          <a:prstGeom prst="rect">
            <a:avLst/>
          </a:prstGeom>
        </p:spPr>
        <p:txBody>
          <a:bodyPr anchor="t" rtlCol="false" tIns="0" lIns="0" bIns="0" rIns="0">
            <a:spAutoFit/>
          </a:bodyPr>
          <a:lstStyle/>
          <a:p>
            <a:pPr algn="ctr">
              <a:lnSpc>
                <a:spcPts val="5074"/>
              </a:lnSpc>
              <a:spcBef>
                <a:spcPct val="0"/>
              </a:spcBef>
            </a:pPr>
            <a:r>
              <a:rPr lang="en-US" sz="3624">
                <a:solidFill>
                  <a:srgbClr val="000000"/>
                </a:solidFill>
                <a:latin typeface="Archivo Black"/>
                <a:ea typeface="Archivo Black"/>
                <a:cs typeface="Archivo Black"/>
                <a:sym typeface="Archivo Black"/>
              </a:rPr>
              <a:t>by</a:t>
            </a:r>
          </a:p>
        </p:txBody>
      </p:sp>
      <p:sp>
        <p:nvSpPr>
          <p:cNvPr name="TextBox 18" id="18"/>
          <p:cNvSpPr txBox="true"/>
          <p:nvPr/>
        </p:nvSpPr>
        <p:spPr>
          <a:xfrm rot="0">
            <a:off x="5960031" y="6771838"/>
            <a:ext cx="6367939" cy="1976755"/>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Archivo Black"/>
                <a:ea typeface="Archivo Black"/>
                <a:cs typeface="Archivo Black"/>
                <a:sym typeface="Archivo Black"/>
              </a:rPr>
              <a:t>Under the Supervision of</a:t>
            </a:r>
          </a:p>
          <a:p>
            <a:pPr algn="ctr">
              <a:lnSpc>
                <a:spcPts val="3919"/>
              </a:lnSpc>
              <a:spcBef>
                <a:spcPct val="0"/>
              </a:spcBef>
            </a:pPr>
          </a:p>
          <a:p>
            <a:pPr algn="ctr">
              <a:lnSpc>
                <a:spcPts val="3919"/>
              </a:lnSpc>
              <a:spcBef>
                <a:spcPct val="0"/>
              </a:spcBef>
            </a:pPr>
            <a:r>
              <a:rPr lang="en-US" sz="2799">
                <a:solidFill>
                  <a:srgbClr val="000000"/>
                </a:solidFill>
                <a:latin typeface="Archivo Black"/>
                <a:ea typeface="Archivo Black"/>
                <a:cs typeface="Archivo Black"/>
                <a:sym typeface="Archivo Black"/>
              </a:rPr>
              <a:t>Dr. Ruchira Selote</a:t>
            </a:r>
          </a:p>
          <a:p>
            <a:pPr algn="ctr">
              <a:lnSpc>
                <a:spcPts val="3919"/>
              </a:lnSpc>
              <a:spcBef>
                <a:spcPct val="0"/>
              </a:spcBef>
            </a:pPr>
            <a:r>
              <a:rPr lang="en-US" sz="2799">
                <a:solidFill>
                  <a:srgbClr val="000000"/>
                </a:solidFill>
                <a:latin typeface="Archivo Black"/>
                <a:ea typeface="Archivo Black"/>
                <a:cs typeface="Archivo Black"/>
                <a:sym typeface="Archivo Black"/>
              </a:rPr>
              <a:t>Session Period: July to Dec 2025</a:t>
            </a:r>
          </a:p>
        </p:txBody>
      </p:sp>
      <p:sp>
        <p:nvSpPr>
          <p:cNvPr name="TextBox 19" id="19"/>
          <p:cNvSpPr txBox="true"/>
          <p:nvPr/>
        </p:nvSpPr>
        <p:spPr>
          <a:xfrm rot="0">
            <a:off x="5366923" y="4080352"/>
            <a:ext cx="7554154" cy="1862811"/>
          </a:xfrm>
          <a:prstGeom prst="rect">
            <a:avLst/>
          </a:prstGeom>
        </p:spPr>
        <p:txBody>
          <a:bodyPr anchor="t" rtlCol="false" tIns="0" lIns="0" bIns="0" rIns="0">
            <a:spAutoFit/>
          </a:bodyPr>
          <a:lstStyle/>
          <a:p>
            <a:pPr algn="ctr">
              <a:lnSpc>
                <a:spcPts val="3717"/>
              </a:lnSpc>
              <a:spcBef>
                <a:spcPct val="0"/>
              </a:spcBef>
            </a:pPr>
            <a:r>
              <a:rPr lang="en-US" sz="2655">
                <a:solidFill>
                  <a:srgbClr val="000000"/>
                </a:solidFill>
                <a:latin typeface="Archivo Black"/>
                <a:ea typeface="Archivo Black"/>
                <a:cs typeface="Archivo Black"/>
                <a:sym typeface="Archivo Black"/>
              </a:rPr>
              <a:t>Cheruku Vivek Goud [BT23CSA017]</a:t>
            </a:r>
          </a:p>
          <a:p>
            <a:pPr algn="ctr">
              <a:lnSpc>
                <a:spcPts val="3717"/>
              </a:lnSpc>
              <a:spcBef>
                <a:spcPct val="0"/>
              </a:spcBef>
            </a:pPr>
            <a:r>
              <a:rPr lang="en-US" sz="2655">
                <a:solidFill>
                  <a:srgbClr val="000000"/>
                </a:solidFill>
                <a:latin typeface="Archivo Black"/>
                <a:ea typeface="Archivo Black"/>
                <a:cs typeface="Archivo Black"/>
                <a:sym typeface="Archivo Black"/>
              </a:rPr>
              <a:t>  Mansa Srinivas Rampure [BT23CSA025]</a:t>
            </a:r>
          </a:p>
          <a:p>
            <a:pPr algn="ctr">
              <a:lnSpc>
                <a:spcPts val="3717"/>
              </a:lnSpc>
              <a:spcBef>
                <a:spcPct val="0"/>
              </a:spcBef>
            </a:pPr>
            <a:r>
              <a:rPr lang="en-US" sz="2655">
                <a:solidFill>
                  <a:srgbClr val="000000"/>
                </a:solidFill>
                <a:latin typeface="Archivo Black"/>
                <a:ea typeface="Archivo Black"/>
                <a:cs typeface="Archivo Black"/>
                <a:sym typeface="Archivo Black"/>
              </a:rPr>
              <a:t>   Nischal Yerramsetty [BT23CSA015]</a:t>
            </a:r>
          </a:p>
          <a:p>
            <a:pPr algn="ctr">
              <a:lnSpc>
                <a:spcPts val="3717"/>
              </a:lnSpc>
              <a:spcBef>
                <a:spcPct val="0"/>
              </a:spcBef>
            </a:pPr>
            <a:r>
              <a:rPr lang="en-US" sz="2655">
                <a:solidFill>
                  <a:srgbClr val="000000"/>
                </a:solidFill>
                <a:latin typeface="Archivo Black"/>
                <a:ea typeface="Archivo Black"/>
                <a:cs typeface="Archivo Black"/>
                <a:sym typeface="Archivo Black"/>
              </a:rPr>
              <a:t>Sameer Shaik [BT23CSA064]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3796055" cy="10287000"/>
            <a:chOff x="0" y="0"/>
            <a:chExt cx="999784" cy="2709333"/>
          </a:xfrm>
        </p:grpSpPr>
        <p:sp>
          <p:nvSpPr>
            <p:cNvPr name="Freeform 4" id="4"/>
            <p:cNvSpPr/>
            <p:nvPr/>
          </p:nvSpPr>
          <p:spPr>
            <a:xfrm flipH="false" flipV="false" rot="0">
              <a:off x="0" y="0"/>
              <a:ext cx="999784" cy="2709333"/>
            </a:xfrm>
            <a:custGeom>
              <a:avLst/>
              <a:gdLst/>
              <a:ahLst/>
              <a:cxnLst/>
              <a:rect r="r" b="b" t="t" l="l"/>
              <a:pathLst>
                <a:path h="2709333" w="999784">
                  <a:moveTo>
                    <a:pt x="0" y="0"/>
                  </a:moveTo>
                  <a:lnTo>
                    <a:pt x="999784" y="0"/>
                  </a:lnTo>
                  <a:lnTo>
                    <a:pt x="999784" y="2709333"/>
                  </a:lnTo>
                  <a:lnTo>
                    <a:pt x="0" y="2709333"/>
                  </a:lnTo>
                  <a:close/>
                </a:path>
              </a:pathLst>
            </a:custGeom>
            <a:solidFill>
              <a:srgbClr val="004AAD"/>
            </a:solidFill>
          </p:spPr>
        </p:sp>
        <p:sp>
          <p:nvSpPr>
            <p:cNvPr name="TextBox 5" id="5"/>
            <p:cNvSpPr txBox="true"/>
            <p:nvPr/>
          </p:nvSpPr>
          <p:spPr>
            <a:xfrm>
              <a:off x="0" y="-47625"/>
              <a:ext cx="999784"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86862" y="686549"/>
            <a:ext cx="3422331" cy="15703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PROBLEM</a:t>
            </a:r>
          </a:p>
          <a:p>
            <a:pPr algn="l">
              <a:lnSpc>
                <a:spcPts val="6372"/>
              </a:lnSpc>
            </a:pPr>
            <a:r>
              <a:rPr lang="en-US" sz="4551">
                <a:solidFill>
                  <a:srgbClr val="FFFFFF"/>
                </a:solidFill>
                <a:latin typeface="Roboto"/>
                <a:ea typeface="Roboto"/>
                <a:cs typeface="Roboto"/>
                <a:sym typeface="Roboto"/>
              </a:rPr>
              <a:t>STATEMENT</a:t>
            </a:r>
          </a:p>
        </p:txBody>
      </p:sp>
      <p:sp>
        <p:nvSpPr>
          <p:cNvPr name="TextBox 7" id="7"/>
          <p:cNvSpPr txBox="true"/>
          <p:nvPr/>
        </p:nvSpPr>
        <p:spPr>
          <a:xfrm rot="0">
            <a:off x="4317277" y="705599"/>
            <a:ext cx="13159509" cy="3145368"/>
          </a:xfrm>
          <a:prstGeom prst="rect">
            <a:avLst/>
          </a:prstGeom>
        </p:spPr>
        <p:txBody>
          <a:bodyPr anchor="t" rtlCol="false" tIns="0" lIns="0" bIns="0" rIns="0">
            <a:spAutoFit/>
          </a:bodyPr>
          <a:lstStyle/>
          <a:p>
            <a:pPr algn="l">
              <a:lnSpc>
                <a:spcPts val="3600"/>
              </a:lnSpc>
              <a:spcBef>
                <a:spcPct val="0"/>
              </a:spcBef>
            </a:pPr>
            <a:r>
              <a:rPr lang="en-US" sz="2572">
                <a:solidFill>
                  <a:srgbClr val="000000"/>
                </a:solidFill>
                <a:latin typeface="Poppins"/>
                <a:ea typeface="Poppins"/>
                <a:cs typeface="Poppins"/>
                <a:sym typeface="Poppins"/>
              </a:rPr>
              <a:t>Industrial mach</a:t>
            </a:r>
            <a:r>
              <a:rPr lang="en-US" sz="2572">
                <a:solidFill>
                  <a:srgbClr val="000000"/>
                </a:solidFill>
                <a:latin typeface="Poppins"/>
                <a:ea typeface="Poppins"/>
                <a:cs typeface="Poppins"/>
                <a:sym typeface="Poppins"/>
              </a:rPr>
              <a:t>ines degrade over time, producing noisy sensor data that hides true wear patterns. Existing RUL models struggle to separate linear wear trends from nonlinear degradation and often fail to capture long-term temporal behavior.</a:t>
            </a:r>
          </a:p>
          <a:p>
            <a:pPr algn="l">
              <a:lnSpc>
                <a:spcPts val="3600"/>
              </a:lnSpc>
              <a:spcBef>
                <a:spcPct val="0"/>
              </a:spcBef>
            </a:pPr>
            <a:r>
              <a:rPr lang="en-US" sz="2572">
                <a:solidFill>
                  <a:srgbClr val="000000"/>
                </a:solidFill>
                <a:latin typeface="Poppins"/>
                <a:ea typeface="Poppins"/>
                <a:cs typeface="Poppins"/>
                <a:sym typeface="Poppins"/>
              </a:rPr>
              <a:t>The problem is to build a robust model that can accurately predict Remaining Useful Life (RUL) by extracting clean, meaningful features from complex sensor signals</a:t>
            </a:r>
          </a:p>
        </p:txBody>
      </p:sp>
      <p:grpSp>
        <p:nvGrpSpPr>
          <p:cNvPr name="Group 8" id="8"/>
          <p:cNvGrpSpPr/>
          <p:nvPr/>
        </p:nvGrpSpPr>
        <p:grpSpPr>
          <a:xfrm rot="0">
            <a:off x="17718686" y="0"/>
            <a:ext cx="526794" cy="10287000"/>
            <a:chOff x="0" y="0"/>
            <a:chExt cx="138744" cy="2709333"/>
          </a:xfrm>
        </p:grpSpPr>
        <p:sp>
          <p:nvSpPr>
            <p:cNvPr name="Freeform 9" id="9"/>
            <p:cNvSpPr/>
            <p:nvPr/>
          </p:nvSpPr>
          <p:spPr>
            <a:xfrm flipH="false" flipV="false" rot="0">
              <a:off x="0" y="0"/>
              <a:ext cx="138744" cy="2709333"/>
            </a:xfrm>
            <a:custGeom>
              <a:avLst/>
              <a:gdLst/>
              <a:ahLst/>
              <a:cxnLst/>
              <a:rect r="r" b="b" t="t" l="l"/>
              <a:pathLst>
                <a:path h="2709333" w="138744">
                  <a:moveTo>
                    <a:pt x="0" y="0"/>
                  </a:moveTo>
                  <a:lnTo>
                    <a:pt x="138744" y="0"/>
                  </a:lnTo>
                  <a:lnTo>
                    <a:pt x="138744" y="2709333"/>
                  </a:lnTo>
                  <a:lnTo>
                    <a:pt x="0" y="2709333"/>
                  </a:lnTo>
                  <a:close/>
                </a:path>
              </a:pathLst>
            </a:custGeom>
            <a:solidFill>
              <a:srgbClr val="004AAD"/>
            </a:solidFill>
          </p:spPr>
        </p:sp>
        <p:sp>
          <p:nvSpPr>
            <p:cNvPr name="TextBox 10" id="10"/>
            <p:cNvSpPr txBox="true"/>
            <p:nvPr/>
          </p:nvSpPr>
          <p:spPr>
            <a:xfrm>
              <a:off x="0" y="-47625"/>
              <a:ext cx="138744" cy="275695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86862" y="4791460"/>
            <a:ext cx="3422331"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WHY ?</a:t>
            </a:r>
          </a:p>
        </p:txBody>
      </p:sp>
      <p:sp>
        <p:nvSpPr>
          <p:cNvPr name="TextBox 12" id="12"/>
          <p:cNvSpPr txBox="true"/>
          <p:nvPr/>
        </p:nvSpPr>
        <p:spPr>
          <a:xfrm rot="0">
            <a:off x="4317277" y="4800985"/>
            <a:ext cx="12744558" cy="2808814"/>
          </a:xfrm>
          <a:prstGeom prst="rect">
            <a:avLst/>
          </a:prstGeom>
        </p:spPr>
        <p:txBody>
          <a:bodyPr anchor="t" rtlCol="false" tIns="0" lIns="0" bIns="0" rIns="0">
            <a:spAutoFit/>
          </a:bodyPr>
          <a:lstStyle/>
          <a:p>
            <a:pPr algn="l">
              <a:lnSpc>
                <a:spcPts val="3733"/>
              </a:lnSpc>
              <a:spcBef>
                <a:spcPct val="0"/>
              </a:spcBef>
            </a:pPr>
            <a:r>
              <a:rPr lang="en-US" sz="2666">
                <a:solidFill>
                  <a:srgbClr val="000000"/>
                </a:solidFill>
                <a:latin typeface="Poppins"/>
                <a:ea typeface="Poppins"/>
                <a:cs typeface="Poppins"/>
                <a:sym typeface="Poppins"/>
              </a:rPr>
              <a:t>The topic addresses a real-world problem that impacts safety, performance, and reliability.</a:t>
            </a:r>
          </a:p>
          <a:p>
            <a:pPr algn="l">
              <a:lnSpc>
                <a:spcPts val="3733"/>
              </a:lnSpc>
              <a:spcBef>
                <a:spcPct val="0"/>
              </a:spcBef>
            </a:pPr>
            <a:r>
              <a:rPr lang="en-US" sz="2666">
                <a:solidFill>
                  <a:srgbClr val="000000"/>
                </a:solidFill>
                <a:latin typeface="Poppins"/>
                <a:ea typeface="Poppins"/>
                <a:cs typeface="Poppins"/>
                <a:sym typeface="Poppins"/>
              </a:rPr>
              <a:t>There is a clear gap in existing methods, creating an opportunity to improve accuracy and efficiency.</a:t>
            </a:r>
          </a:p>
          <a:p>
            <a:pPr algn="l">
              <a:lnSpc>
                <a:spcPts val="3733"/>
              </a:lnSpc>
              <a:spcBef>
                <a:spcPct val="0"/>
              </a:spcBef>
            </a:pPr>
            <a:r>
              <a:rPr lang="en-US" sz="2666">
                <a:solidFill>
                  <a:srgbClr val="000000"/>
                </a:solidFill>
                <a:latin typeface="Poppins"/>
                <a:ea typeface="Poppins"/>
                <a:cs typeface="Poppins"/>
                <a:sym typeface="Poppins"/>
              </a:rPr>
              <a:t>The field is rapidly growing, making it relevant for future research and industry applications.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4169780" cy="10287000"/>
            <a:chOff x="0" y="0"/>
            <a:chExt cx="1098214" cy="2709333"/>
          </a:xfrm>
        </p:grpSpPr>
        <p:sp>
          <p:nvSpPr>
            <p:cNvPr name="Freeform 4" id="4"/>
            <p:cNvSpPr/>
            <p:nvPr/>
          </p:nvSpPr>
          <p:spPr>
            <a:xfrm flipH="false" flipV="false" rot="0">
              <a:off x="0" y="0"/>
              <a:ext cx="1098214" cy="2709333"/>
            </a:xfrm>
            <a:custGeom>
              <a:avLst/>
              <a:gdLst/>
              <a:ahLst/>
              <a:cxnLst/>
              <a:rect r="r" b="b" t="t" l="l"/>
              <a:pathLst>
                <a:path h="2709333" w="1098214">
                  <a:moveTo>
                    <a:pt x="0" y="0"/>
                  </a:moveTo>
                  <a:lnTo>
                    <a:pt x="1098214" y="0"/>
                  </a:lnTo>
                  <a:lnTo>
                    <a:pt x="1098214" y="2709333"/>
                  </a:lnTo>
                  <a:lnTo>
                    <a:pt x="0" y="2709333"/>
                  </a:lnTo>
                  <a:close/>
                </a:path>
              </a:pathLst>
            </a:custGeom>
            <a:solidFill>
              <a:srgbClr val="004AAD"/>
            </a:solidFill>
          </p:spPr>
        </p:sp>
        <p:sp>
          <p:nvSpPr>
            <p:cNvPr name="TextBox 5" id="5"/>
            <p:cNvSpPr txBox="true"/>
            <p:nvPr/>
          </p:nvSpPr>
          <p:spPr>
            <a:xfrm>
              <a:off x="0" y="-47625"/>
              <a:ext cx="1098214"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942975"/>
            <a:ext cx="4207599"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INTRODUCTION</a:t>
            </a:r>
          </a:p>
        </p:txBody>
      </p:sp>
      <p:sp>
        <p:nvSpPr>
          <p:cNvPr name="TextBox 7" id="7"/>
          <p:cNvSpPr txBox="true"/>
          <p:nvPr/>
        </p:nvSpPr>
        <p:spPr>
          <a:xfrm rot="0">
            <a:off x="4317277" y="705599"/>
            <a:ext cx="13291731" cy="126301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Poppins"/>
                <a:ea typeface="Poppins"/>
                <a:cs typeface="Poppins"/>
                <a:sym typeface="Poppins"/>
              </a:rPr>
              <a:t>Th</a:t>
            </a:r>
            <a:r>
              <a:rPr lang="en-US" sz="2400">
                <a:solidFill>
                  <a:srgbClr val="000000"/>
                </a:solidFill>
                <a:latin typeface="Poppins"/>
                <a:ea typeface="Poppins"/>
                <a:cs typeface="Poppins"/>
                <a:sym typeface="Poppins"/>
              </a:rPr>
              <a:t>is research focuses on predicting how long an aircraft engine can keep working before it fails (Remaining Useful Life – RUL). Aircraft engines slowly wear out over time, and knowing when they will fail helps avoid accidents and reduces maintenance cost.</a:t>
            </a:r>
          </a:p>
        </p:txBody>
      </p:sp>
      <p:grpSp>
        <p:nvGrpSpPr>
          <p:cNvPr name="Group 8" id="8"/>
          <p:cNvGrpSpPr/>
          <p:nvPr/>
        </p:nvGrpSpPr>
        <p:grpSpPr>
          <a:xfrm rot="0">
            <a:off x="17718686" y="0"/>
            <a:ext cx="526794" cy="10287000"/>
            <a:chOff x="0" y="0"/>
            <a:chExt cx="138744" cy="2709333"/>
          </a:xfrm>
        </p:grpSpPr>
        <p:sp>
          <p:nvSpPr>
            <p:cNvPr name="Freeform 9" id="9"/>
            <p:cNvSpPr/>
            <p:nvPr/>
          </p:nvSpPr>
          <p:spPr>
            <a:xfrm flipH="false" flipV="false" rot="0">
              <a:off x="0" y="0"/>
              <a:ext cx="138744" cy="2709333"/>
            </a:xfrm>
            <a:custGeom>
              <a:avLst/>
              <a:gdLst/>
              <a:ahLst/>
              <a:cxnLst/>
              <a:rect r="r" b="b" t="t" l="l"/>
              <a:pathLst>
                <a:path h="2709333" w="138744">
                  <a:moveTo>
                    <a:pt x="0" y="0"/>
                  </a:moveTo>
                  <a:lnTo>
                    <a:pt x="138744" y="0"/>
                  </a:lnTo>
                  <a:lnTo>
                    <a:pt x="138744" y="2709333"/>
                  </a:lnTo>
                  <a:lnTo>
                    <a:pt x="0" y="2709333"/>
                  </a:lnTo>
                  <a:close/>
                </a:path>
              </a:pathLst>
            </a:custGeom>
            <a:solidFill>
              <a:srgbClr val="004AAD"/>
            </a:solidFill>
          </p:spPr>
        </p:sp>
        <p:sp>
          <p:nvSpPr>
            <p:cNvPr name="TextBox 10" id="10"/>
            <p:cNvSpPr txBox="true"/>
            <p:nvPr/>
          </p:nvSpPr>
          <p:spPr>
            <a:xfrm>
              <a:off x="0" y="-47625"/>
              <a:ext cx="138744" cy="275695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317277" y="2736153"/>
            <a:ext cx="13291731" cy="252031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Poppins"/>
                <a:ea typeface="Poppins"/>
                <a:cs typeface="Poppins"/>
                <a:sym typeface="Poppins"/>
              </a:rPr>
              <a:t>To do this, the paper uses a hybrid machine learning model that combines three parts:</a:t>
            </a:r>
          </a:p>
          <a:p>
            <a:pPr algn="l">
              <a:lnSpc>
                <a:spcPts val="3359"/>
              </a:lnSpc>
              <a:spcBef>
                <a:spcPct val="0"/>
              </a:spcBef>
            </a:pPr>
            <a:r>
              <a:rPr lang="en-US" sz="2400">
                <a:solidFill>
                  <a:srgbClr val="000000"/>
                </a:solidFill>
                <a:latin typeface="Poppins"/>
                <a:ea typeface="Poppins"/>
                <a:cs typeface="Poppins"/>
                <a:sym typeface="Poppins"/>
              </a:rPr>
              <a:t>Linear model – helps make the prediction easier to understand.</a:t>
            </a:r>
          </a:p>
          <a:p>
            <a:pPr algn="l">
              <a:lnSpc>
                <a:spcPts val="3359"/>
              </a:lnSpc>
              <a:spcBef>
                <a:spcPct val="0"/>
              </a:spcBef>
            </a:pPr>
            <a:r>
              <a:rPr lang="en-US" sz="2400">
                <a:solidFill>
                  <a:srgbClr val="000000"/>
                </a:solidFill>
                <a:latin typeface="Poppins"/>
                <a:ea typeface="Poppins"/>
                <a:cs typeface="Poppins"/>
                <a:sym typeface="Poppins"/>
              </a:rPr>
              <a:t>Autoencoder – reduces noise and extracts the most important features from sensor data.</a:t>
            </a:r>
          </a:p>
          <a:p>
            <a:pPr algn="l">
              <a:lnSpc>
                <a:spcPts val="3359"/>
              </a:lnSpc>
              <a:spcBef>
                <a:spcPct val="0"/>
              </a:spcBef>
            </a:pPr>
            <a:r>
              <a:rPr lang="en-US" sz="2400">
                <a:solidFill>
                  <a:srgbClr val="000000"/>
                </a:solidFill>
                <a:latin typeface="Poppins"/>
                <a:ea typeface="Poppins"/>
                <a:cs typeface="Poppins"/>
                <a:sym typeface="Poppins"/>
              </a:rPr>
              <a:t>LSTM (Long Short-Term Memory) – learns patterns over time because engine data changes continuously.</a:t>
            </a:r>
          </a:p>
        </p:txBody>
      </p:sp>
      <p:sp>
        <p:nvSpPr>
          <p:cNvPr name="TextBox 12" id="12"/>
          <p:cNvSpPr txBox="true"/>
          <p:nvPr/>
        </p:nvSpPr>
        <p:spPr>
          <a:xfrm rot="0">
            <a:off x="4317277" y="6027993"/>
            <a:ext cx="13291731" cy="84391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Poppins"/>
                <a:ea typeface="Poppins"/>
                <a:cs typeface="Poppins"/>
                <a:sym typeface="Poppins"/>
              </a:rPr>
              <a:t>These three parts work together to analyze data from the NASA C-MAPSS dataset, which contains real engine sensor readings.</a:t>
            </a:r>
          </a:p>
        </p:txBody>
      </p:sp>
      <p:sp>
        <p:nvSpPr>
          <p:cNvPr name="TextBox 13" id="13"/>
          <p:cNvSpPr txBox="true"/>
          <p:nvPr/>
        </p:nvSpPr>
        <p:spPr>
          <a:xfrm rot="0">
            <a:off x="426075" y="7577978"/>
            <a:ext cx="3317629"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KEY WORDS</a:t>
            </a:r>
          </a:p>
        </p:txBody>
      </p:sp>
      <p:sp>
        <p:nvSpPr>
          <p:cNvPr name="TextBox 14" id="14"/>
          <p:cNvSpPr txBox="true"/>
          <p:nvPr/>
        </p:nvSpPr>
        <p:spPr>
          <a:xfrm rot="0">
            <a:off x="4317277" y="7643433"/>
            <a:ext cx="13291731" cy="126301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Poppins"/>
                <a:ea typeface="Poppins"/>
                <a:cs typeface="Poppins"/>
                <a:sym typeface="Poppins"/>
              </a:rPr>
              <a:t>Remaining Useful Life (RUL), Predictive Maintenance, Autoencoder, Long Short-Term Memory (LSTM), Commercial Modular Aero-Propulsion System Simulation (C-MAPSS), Hybrid Deep Learning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2715591" cy="10287000"/>
            <a:chOff x="0" y="0"/>
            <a:chExt cx="715217" cy="2709333"/>
          </a:xfrm>
        </p:grpSpPr>
        <p:sp>
          <p:nvSpPr>
            <p:cNvPr name="Freeform 4" id="4"/>
            <p:cNvSpPr/>
            <p:nvPr/>
          </p:nvSpPr>
          <p:spPr>
            <a:xfrm flipH="false" flipV="false" rot="0">
              <a:off x="0" y="0"/>
              <a:ext cx="715217" cy="2709333"/>
            </a:xfrm>
            <a:custGeom>
              <a:avLst/>
              <a:gdLst/>
              <a:ahLst/>
              <a:cxnLst/>
              <a:rect r="r" b="b" t="t" l="l"/>
              <a:pathLst>
                <a:path h="2709333" w="715217">
                  <a:moveTo>
                    <a:pt x="0" y="0"/>
                  </a:moveTo>
                  <a:lnTo>
                    <a:pt x="715217" y="0"/>
                  </a:lnTo>
                  <a:lnTo>
                    <a:pt x="715217" y="2709333"/>
                  </a:lnTo>
                  <a:lnTo>
                    <a:pt x="0" y="2709333"/>
                  </a:lnTo>
                  <a:close/>
                </a:path>
              </a:pathLst>
            </a:custGeom>
            <a:solidFill>
              <a:srgbClr val="004AAD"/>
            </a:solidFill>
          </p:spPr>
        </p:sp>
        <p:sp>
          <p:nvSpPr>
            <p:cNvPr name="TextBox 5" id="5"/>
            <p:cNvSpPr txBox="true"/>
            <p:nvPr/>
          </p:nvSpPr>
          <p:spPr>
            <a:xfrm>
              <a:off x="0" y="-47625"/>
              <a:ext cx="715217"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942975"/>
            <a:ext cx="2715591"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DATASET</a:t>
            </a:r>
          </a:p>
        </p:txBody>
      </p:sp>
      <p:grpSp>
        <p:nvGrpSpPr>
          <p:cNvPr name="Group 7" id="7"/>
          <p:cNvGrpSpPr/>
          <p:nvPr/>
        </p:nvGrpSpPr>
        <p:grpSpPr>
          <a:xfrm rot="0">
            <a:off x="17718686" y="0"/>
            <a:ext cx="526794" cy="10287000"/>
            <a:chOff x="0" y="0"/>
            <a:chExt cx="138744" cy="2709333"/>
          </a:xfrm>
        </p:grpSpPr>
        <p:sp>
          <p:nvSpPr>
            <p:cNvPr name="Freeform 8" id="8"/>
            <p:cNvSpPr/>
            <p:nvPr/>
          </p:nvSpPr>
          <p:spPr>
            <a:xfrm flipH="false" flipV="false" rot="0">
              <a:off x="0" y="0"/>
              <a:ext cx="138744" cy="2709333"/>
            </a:xfrm>
            <a:custGeom>
              <a:avLst/>
              <a:gdLst/>
              <a:ahLst/>
              <a:cxnLst/>
              <a:rect r="r" b="b" t="t" l="l"/>
              <a:pathLst>
                <a:path h="2709333" w="138744">
                  <a:moveTo>
                    <a:pt x="0" y="0"/>
                  </a:moveTo>
                  <a:lnTo>
                    <a:pt x="138744" y="0"/>
                  </a:lnTo>
                  <a:lnTo>
                    <a:pt x="138744" y="2709333"/>
                  </a:lnTo>
                  <a:lnTo>
                    <a:pt x="0" y="2709333"/>
                  </a:lnTo>
                  <a:close/>
                </a:path>
              </a:pathLst>
            </a:custGeom>
            <a:solidFill>
              <a:srgbClr val="004AAD"/>
            </a:solidFill>
          </p:spPr>
        </p:sp>
        <p:sp>
          <p:nvSpPr>
            <p:cNvPr name="TextBox 9" id="9"/>
            <p:cNvSpPr txBox="true"/>
            <p:nvPr/>
          </p:nvSpPr>
          <p:spPr>
            <a:xfrm>
              <a:off x="0" y="-47625"/>
              <a:ext cx="138744" cy="275695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029698" y="573939"/>
            <a:ext cx="14688988" cy="2267648"/>
          </a:xfrm>
          <a:prstGeom prst="rect">
            <a:avLst/>
          </a:prstGeom>
        </p:spPr>
        <p:txBody>
          <a:bodyPr anchor="t" rtlCol="false" tIns="0" lIns="0" bIns="0" rIns="0">
            <a:spAutoFit/>
          </a:bodyPr>
          <a:lstStyle/>
          <a:p>
            <a:pPr algn="l">
              <a:lnSpc>
                <a:spcPts val="3636"/>
              </a:lnSpc>
            </a:pPr>
            <a:r>
              <a:rPr lang="en-US" sz="2597" spc="77">
                <a:solidFill>
                  <a:srgbClr val="000000"/>
                </a:solidFill>
                <a:latin typeface="League Spartan"/>
                <a:ea typeface="League Spartan"/>
                <a:cs typeface="League Spartan"/>
                <a:sym typeface="League Spartan"/>
              </a:rPr>
              <a:t>The CMAPSS (Commercial Modular Aero-Propulsion System Simulation) dataset</a:t>
            </a:r>
          </a:p>
          <a:p>
            <a:pPr algn="l">
              <a:lnSpc>
                <a:spcPts val="3636"/>
              </a:lnSpc>
            </a:pPr>
            <a:r>
              <a:rPr lang="en-US" sz="2597" spc="77">
                <a:solidFill>
                  <a:srgbClr val="000000"/>
                </a:solidFill>
                <a:latin typeface="Telegraf"/>
                <a:ea typeface="Telegraf"/>
                <a:cs typeface="Telegraf"/>
                <a:sym typeface="Telegraf"/>
              </a:rPr>
              <a:t>is a benchmark dataset created by NASA for research in prognostics and remaining useful life (RUL) prediction of aircraft engines.</a:t>
            </a:r>
          </a:p>
          <a:p>
            <a:pPr algn="l">
              <a:lnSpc>
                <a:spcPts val="3636"/>
              </a:lnSpc>
            </a:pPr>
            <a:r>
              <a:rPr lang="en-US" sz="2597" spc="77">
                <a:solidFill>
                  <a:srgbClr val="000000"/>
                </a:solidFill>
                <a:latin typeface="Telegraf"/>
                <a:ea typeface="Telegraf"/>
                <a:cs typeface="Telegraf"/>
                <a:sym typeface="Telegraf"/>
              </a:rPr>
              <a:t>It contains simulated sensor data from turbofan jet engines operating under different conditions until they fail.</a:t>
            </a:r>
          </a:p>
        </p:txBody>
      </p:sp>
      <p:sp>
        <p:nvSpPr>
          <p:cNvPr name="TextBox 11" id="11"/>
          <p:cNvSpPr txBox="true"/>
          <p:nvPr/>
        </p:nvSpPr>
        <p:spPr>
          <a:xfrm rot="0">
            <a:off x="3029698" y="3019332"/>
            <a:ext cx="14688988" cy="6727317"/>
          </a:xfrm>
          <a:prstGeom prst="rect">
            <a:avLst/>
          </a:prstGeom>
        </p:spPr>
        <p:txBody>
          <a:bodyPr anchor="t" rtlCol="false" tIns="0" lIns="0" bIns="0" rIns="0">
            <a:spAutoFit/>
          </a:bodyPr>
          <a:lstStyle/>
          <a:p>
            <a:pPr algn="l">
              <a:lnSpc>
                <a:spcPts val="3528"/>
              </a:lnSpc>
            </a:pPr>
            <a:r>
              <a:rPr lang="en-US" sz="2520" spc="75">
                <a:solidFill>
                  <a:srgbClr val="000000"/>
                </a:solidFill>
                <a:latin typeface="Telegraf"/>
                <a:ea typeface="Telegraf"/>
                <a:cs typeface="Telegraf"/>
                <a:sym typeface="Telegraf"/>
              </a:rPr>
              <a:t>The CMAPSS Dataset Contains </a:t>
            </a:r>
          </a:p>
          <a:p>
            <a:pPr algn="l">
              <a:lnSpc>
                <a:spcPts val="3528"/>
              </a:lnSpc>
            </a:pPr>
            <a:r>
              <a:rPr lang="en-US" sz="2520" spc="75">
                <a:solidFill>
                  <a:srgbClr val="000000"/>
                </a:solidFill>
                <a:latin typeface="Telegraf"/>
                <a:ea typeface="Telegraf"/>
                <a:cs typeface="Telegraf"/>
                <a:sym typeface="Telegraf"/>
              </a:rPr>
              <a:t>Each Engine has : </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Multiple operating cycles (from healthy to failure)</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Sensor readings (e.g., temperature, pressure, fan speed)</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Operational settings (different environments or flight conditions)</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RUL labels (how many cycles are left before the engine fails)</a:t>
            </a:r>
          </a:p>
          <a:p>
            <a:pPr algn="l">
              <a:lnSpc>
                <a:spcPts val="3528"/>
              </a:lnSpc>
            </a:pPr>
            <a:r>
              <a:rPr lang="en-US" sz="2520" spc="75">
                <a:solidFill>
                  <a:srgbClr val="000000"/>
                </a:solidFill>
                <a:latin typeface="Telegraf"/>
                <a:ea typeface="Telegraf"/>
                <a:cs typeface="Telegraf"/>
                <a:sym typeface="Telegraf"/>
              </a:rPr>
              <a:t>There are 4 subsets of the dataset:</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FD001</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FD002</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FD003</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FD004</a:t>
            </a:r>
          </a:p>
          <a:p>
            <a:pPr algn="l">
              <a:lnSpc>
                <a:spcPts val="3528"/>
              </a:lnSpc>
            </a:pPr>
            <a:r>
              <a:rPr lang="en-US" sz="2520" spc="75">
                <a:solidFill>
                  <a:srgbClr val="000000"/>
                </a:solidFill>
                <a:latin typeface="Telegraf"/>
                <a:ea typeface="Telegraf"/>
                <a:cs typeface="Telegraf"/>
                <a:sym typeface="Telegraf"/>
              </a:rPr>
              <a:t>Each subset varies in:</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Number of engines</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Operating conditions (1–6)</a:t>
            </a:r>
          </a:p>
          <a:p>
            <a:pPr algn="l" marL="544068" indent="-272034" lvl="1">
              <a:lnSpc>
                <a:spcPts val="3528"/>
              </a:lnSpc>
              <a:buFont typeface="Arial"/>
              <a:buChar char="•"/>
            </a:pPr>
            <a:r>
              <a:rPr lang="en-US" sz="2520" spc="75">
                <a:solidFill>
                  <a:srgbClr val="000000"/>
                </a:solidFill>
                <a:latin typeface="Telegraf"/>
                <a:ea typeface="Telegraf"/>
                <a:cs typeface="Telegraf"/>
                <a:sym typeface="Telegraf"/>
              </a:rPr>
              <a:t>Failure modes (1–2)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241846" y="429920"/>
            <a:ext cx="5804308"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LITERATURE SURVEY</a:t>
            </a:r>
          </a:p>
        </p:txBody>
      </p:sp>
      <p:sp>
        <p:nvSpPr>
          <p:cNvPr name="TextBox 7" id="7"/>
          <p:cNvSpPr txBox="true"/>
          <p:nvPr/>
        </p:nvSpPr>
        <p:spPr>
          <a:xfrm rot="0">
            <a:off x="1528902" y="1755226"/>
            <a:ext cx="14967340" cy="1109345"/>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rchivo Black"/>
                <a:ea typeface="Archivo Black"/>
                <a:cs typeface="Archivo Black"/>
                <a:sym typeface="Archivo Black"/>
              </a:rPr>
              <a:t> Paper 1 : Linear Methods for Predictive Maintenance (Appl. Sci. 2025, 15, 9945)</a:t>
            </a:r>
          </a:p>
        </p:txBody>
      </p:sp>
      <p:grpSp>
        <p:nvGrpSpPr>
          <p:cNvPr name="Group 8" id="8"/>
          <p:cNvGrpSpPr/>
          <p:nvPr/>
        </p:nvGrpSpPr>
        <p:grpSpPr>
          <a:xfrm rot="0">
            <a:off x="-257175" y="9754130"/>
            <a:ext cx="18802350" cy="1715783"/>
            <a:chOff x="0" y="0"/>
            <a:chExt cx="4952059" cy="451893"/>
          </a:xfrm>
        </p:grpSpPr>
        <p:sp>
          <p:nvSpPr>
            <p:cNvPr name="Freeform 9" id="9"/>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10" id="10"/>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3353348"/>
            <a:ext cx="16230600" cy="5958205"/>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Poppins Bold"/>
                <a:ea typeface="Poppins Bold"/>
                <a:cs typeface="Poppins Bold"/>
                <a:sym typeface="Poppins Bold"/>
              </a:rPr>
              <a:t>Objective:</a:t>
            </a:r>
            <a:r>
              <a:rPr lang="en-US" sz="2800">
                <a:solidFill>
                  <a:srgbClr val="000000"/>
                </a:solidFill>
                <a:latin typeface="Poppins"/>
                <a:ea typeface="Poppins"/>
                <a:cs typeface="Poppins"/>
                <a:sym typeface="Poppins"/>
              </a:rPr>
              <a:t> Develop a unified, interpretable, and computationally efficient linear framework for multi-modal RUL prediction and health state classification of jet engines.</a:t>
            </a:r>
          </a:p>
          <a:p>
            <a:pPr algn="l">
              <a:lnSpc>
                <a:spcPts val="3920"/>
              </a:lnSpc>
              <a:spcBef>
                <a:spcPct val="0"/>
              </a:spcBef>
            </a:pPr>
            <a:r>
              <a:rPr lang="en-US" b="true" sz="2800">
                <a:solidFill>
                  <a:srgbClr val="000000"/>
                </a:solidFill>
                <a:latin typeface="Poppins Bold"/>
                <a:ea typeface="Poppins Bold"/>
                <a:cs typeface="Poppins Bold"/>
                <a:sym typeface="Poppins Bold"/>
              </a:rPr>
              <a:t>Method:</a:t>
            </a:r>
            <a:r>
              <a:rPr lang="en-US" sz="2800">
                <a:solidFill>
                  <a:srgbClr val="000000"/>
                </a:solidFill>
                <a:latin typeface="Poppins"/>
                <a:ea typeface="Poppins"/>
                <a:cs typeface="Poppins"/>
                <a:sym typeface="Poppins"/>
              </a:rPr>
              <a:t> Uses Linear Discriminant Analysis to partition measurement space and computes signed distances to estimate RUL; combines linear regression and autoregressive approaches for temporal modeling.</a:t>
            </a:r>
          </a:p>
          <a:p>
            <a:pPr algn="l">
              <a:lnSpc>
                <a:spcPts val="3920"/>
              </a:lnSpc>
              <a:spcBef>
                <a:spcPct val="0"/>
              </a:spcBef>
            </a:pPr>
            <a:r>
              <a:rPr lang="en-US" b="true" sz="2800">
                <a:solidFill>
                  <a:srgbClr val="000000"/>
                </a:solidFill>
                <a:latin typeface="Poppins Bold"/>
                <a:ea typeface="Poppins Bold"/>
                <a:cs typeface="Poppins Bold"/>
                <a:sym typeface="Poppins Bold"/>
              </a:rPr>
              <a:t>Key Result:</a:t>
            </a:r>
            <a:r>
              <a:rPr lang="en-US" sz="2800">
                <a:solidFill>
                  <a:srgbClr val="000000"/>
                </a:solidFill>
                <a:latin typeface="Poppins"/>
                <a:ea typeface="Poppins"/>
                <a:cs typeface="Poppins"/>
                <a:sym typeface="Poppins"/>
              </a:rPr>
              <a:t> Provides transparent RUL predictions, maintains real-time deployment capability, and achieves consistent performance on multi-modal sensor data, though accuracy trails advanced neural networks.</a:t>
            </a:r>
          </a:p>
          <a:p>
            <a:pPr algn="l">
              <a:lnSpc>
                <a:spcPts val="3920"/>
              </a:lnSpc>
              <a:spcBef>
                <a:spcPct val="0"/>
              </a:spcBef>
            </a:pPr>
            <a:r>
              <a:rPr lang="en-US" b="true" sz="2800">
                <a:solidFill>
                  <a:srgbClr val="000000"/>
                </a:solidFill>
                <a:latin typeface="Poppins Bold"/>
                <a:ea typeface="Poppins Bold"/>
                <a:cs typeface="Poppins Bold"/>
                <a:sym typeface="Poppins Bold"/>
              </a:rPr>
              <a:t>Strengths:</a:t>
            </a:r>
            <a:r>
              <a:rPr lang="en-US" sz="2800">
                <a:solidFill>
                  <a:srgbClr val="000000"/>
                </a:solidFill>
                <a:latin typeface="Poppins"/>
                <a:ea typeface="Poppins"/>
                <a:cs typeface="Poppins"/>
                <a:sym typeface="Poppins"/>
              </a:rPr>
              <a:t> Interpretability, efficiency, handles heterogeneous sensor data, and requires minimal preprocessing.</a:t>
            </a:r>
          </a:p>
          <a:p>
            <a:pPr algn="l">
              <a:lnSpc>
                <a:spcPts val="3920"/>
              </a:lnSpc>
              <a:spcBef>
                <a:spcPct val="0"/>
              </a:spcBef>
            </a:pPr>
            <a:r>
              <a:rPr lang="en-US" b="true" sz="2800">
                <a:solidFill>
                  <a:srgbClr val="000000"/>
                </a:solidFill>
                <a:latin typeface="Poppins Bold"/>
                <a:ea typeface="Poppins Bold"/>
                <a:cs typeface="Poppins Bold"/>
                <a:sym typeface="Poppins Bold"/>
              </a:rPr>
              <a:t>Limitations:</a:t>
            </a:r>
            <a:r>
              <a:rPr lang="en-US" sz="2800">
                <a:solidFill>
                  <a:srgbClr val="000000"/>
                </a:solidFill>
                <a:latin typeface="Poppins"/>
                <a:ea typeface="Poppins"/>
                <a:cs typeface="Poppins"/>
                <a:sym typeface="Poppins"/>
              </a:rPr>
              <a:t> Limited performance on highly non-linear data and multi-modal degradation behaviors, compared to deep networks.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857891"/>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47448"/>
            <a:ext cx="15464489" cy="1109345"/>
          </a:xfrm>
          <a:prstGeom prst="rect">
            <a:avLst/>
          </a:prstGeom>
        </p:spPr>
        <p:txBody>
          <a:bodyPr anchor="t" rtlCol="false" tIns="0" lIns="0" bIns="0" rIns="0">
            <a:spAutoFit/>
          </a:bodyPr>
          <a:lstStyle/>
          <a:p>
            <a:pPr algn="ctr">
              <a:lnSpc>
                <a:spcPts val="4479"/>
              </a:lnSpc>
              <a:spcBef>
                <a:spcPct val="0"/>
              </a:spcBef>
            </a:pPr>
            <a:r>
              <a:rPr lang="en-US" sz="3199">
                <a:solidFill>
                  <a:srgbClr val="000000"/>
                </a:solidFill>
                <a:latin typeface="Archivo Black"/>
                <a:ea typeface="Archivo Black"/>
                <a:cs typeface="Archivo Black"/>
                <a:sym typeface="Archivo Black"/>
              </a:rPr>
              <a:t> Paper 2: Damage Propagation Modeling for Aircraft Engine Run-to-Failure Simulation (PHM08/NASA C-MAPSS)</a:t>
            </a:r>
          </a:p>
        </p:txBody>
      </p:sp>
      <p:grpSp>
        <p:nvGrpSpPr>
          <p:cNvPr name="Group 7" id="7"/>
          <p:cNvGrpSpPr/>
          <p:nvPr/>
        </p:nvGrpSpPr>
        <p:grpSpPr>
          <a:xfrm rot="0">
            <a:off x="-257175" y="9754130"/>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2826224"/>
            <a:ext cx="16230600" cy="4967605"/>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Poppins Bold"/>
                <a:ea typeface="Poppins Bold"/>
                <a:cs typeface="Poppins Bold"/>
                <a:sym typeface="Poppins Bold"/>
              </a:rPr>
              <a:t>Objective:</a:t>
            </a:r>
            <a:r>
              <a:rPr lang="en-US" sz="2799">
                <a:solidFill>
                  <a:srgbClr val="000000"/>
                </a:solidFill>
                <a:latin typeface="Poppins"/>
                <a:ea typeface="Poppins"/>
                <a:cs typeface="Poppins"/>
                <a:sym typeface="Poppins"/>
              </a:rPr>
              <a:t> Generate realistic run-to-failure sensor data using physics-inspired degradation models to benchmark prognostics algorithms.</a:t>
            </a:r>
          </a:p>
          <a:p>
            <a:pPr algn="l">
              <a:lnSpc>
                <a:spcPts val="3919"/>
              </a:lnSpc>
              <a:spcBef>
                <a:spcPct val="0"/>
              </a:spcBef>
            </a:pPr>
            <a:r>
              <a:rPr lang="en-US" b="true" sz="2799">
                <a:solidFill>
                  <a:srgbClr val="000000"/>
                </a:solidFill>
                <a:latin typeface="Poppins Bold"/>
                <a:ea typeface="Poppins Bold"/>
                <a:cs typeface="Poppins Bold"/>
                <a:sym typeface="Poppins Bold"/>
              </a:rPr>
              <a:t>Method:</a:t>
            </a:r>
            <a:r>
              <a:rPr lang="en-US" sz="2799">
                <a:solidFill>
                  <a:srgbClr val="000000"/>
                </a:solidFill>
                <a:latin typeface="Poppins"/>
                <a:ea typeface="Poppins"/>
                <a:cs typeface="Poppins"/>
                <a:sym typeface="Poppins"/>
              </a:rPr>
              <a:t> Simulates engine degradation via exponential loss in flow and efficiency, creates health indices, and provides a simulated dataset for evaluation.</a:t>
            </a:r>
          </a:p>
          <a:p>
            <a:pPr algn="l">
              <a:lnSpc>
                <a:spcPts val="3919"/>
              </a:lnSpc>
              <a:spcBef>
                <a:spcPct val="0"/>
              </a:spcBef>
            </a:pPr>
            <a:r>
              <a:rPr lang="en-US" b="true" sz="2799">
                <a:solidFill>
                  <a:srgbClr val="000000"/>
                </a:solidFill>
                <a:latin typeface="Poppins Bold"/>
                <a:ea typeface="Poppins Bold"/>
                <a:cs typeface="Poppins Bold"/>
                <a:sym typeface="Poppins Bold"/>
              </a:rPr>
              <a:t>Key Result:</a:t>
            </a:r>
            <a:r>
              <a:rPr lang="en-US" sz="2799">
                <a:solidFill>
                  <a:srgbClr val="000000"/>
                </a:solidFill>
                <a:latin typeface="Poppins"/>
                <a:ea typeface="Poppins"/>
                <a:cs typeface="Poppins"/>
                <a:sym typeface="Poppins"/>
              </a:rPr>
              <a:t> Delivers comprehensive, multi-sensor time series reflecting realistic engine failures; widely used for data-driven RUL model validation.</a:t>
            </a:r>
          </a:p>
          <a:p>
            <a:pPr algn="l">
              <a:lnSpc>
                <a:spcPts val="3919"/>
              </a:lnSpc>
              <a:spcBef>
                <a:spcPct val="0"/>
              </a:spcBef>
            </a:pPr>
            <a:r>
              <a:rPr lang="en-US" b="true" sz="2799">
                <a:solidFill>
                  <a:srgbClr val="000000"/>
                </a:solidFill>
                <a:latin typeface="Poppins Bold"/>
                <a:ea typeface="Poppins Bold"/>
                <a:cs typeface="Poppins Bold"/>
                <a:sym typeface="Poppins Bold"/>
              </a:rPr>
              <a:t>Strengths:</a:t>
            </a:r>
            <a:r>
              <a:rPr lang="en-US" sz="2799">
                <a:solidFill>
                  <a:srgbClr val="000000"/>
                </a:solidFill>
                <a:latin typeface="Poppins"/>
                <a:ea typeface="Poppins"/>
                <a:cs typeface="Poppins"/>
                <a:sym typeface="Poppins"/>
              </a:rPr>
              <a:t> Provides a standard dataset, models operational margins and process noise, supports broad comparison of algorithms.</a:t>
            </a:r>
          </a:p>
          <a:p>
            <a:pPr algn="l">
              <a:lnSpc>
                <a:spcPts val="3919"/>
              </a:lnSpc>
              <a:spcBef>
                <a:spcPct val="0"/>
              </a:spcBef>
            </a:pPr>
            <a:r>
              <a:rPr lang="en-US" b="true" sz="2799">
                <a:solidFill>
                  <a:srgbClr val="000000"/>
                </a:solidFill>
                <a:latin typeface="Poppins Bold"/>
                <a:ea typeface="Poppins Bold"/>
                <a:cs typeface="Poppins Bold"/>
                <a:sym typeface="Poppins Bold"/>
              </a:rPr>
              <a:t>Limitations:</a:t>
            </a:r>
            <a:r>
              <a:rPr lang="en-US" sz="2799">
                <a:solidFill>
                  <a:srgbClr val="000000"/>
                </a:solidFill>
                <a:latin typeface="Poppins"/>
                <a:ea typeface="Poppins"/>
                <a:cs typeface="Poppins"/>
                <a:sym typeface="Poppins"/>
              </a:rPr>
              <a:t> Uses simulated rather than real-world degradation trajectories, simplifications in physical models.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857891"/>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47448"/>
            <a:ext cx="15982334" cy="1109345"/>
          </a:xfrm>
          <a:prstGeom prst="rect">
            <a:avLst/>
          </a:prstGeom>
        </p:spPr>
        <p:txBody>
          <a:bodyPr anchor="t" rtlCol="false" tIns="0" lIns="0" bIns="0" rIns="0">
            <a:spAutoFit/>
          </a:bodyPr>
          <a:lstStyle/>
          <a:p>
            <a:pPr algn="ctr">
              <a:lnSpc>
                <a:spcPts val="4479"/>
              </a:lnSpc>
              <a:spcBef>
                <a:spcPct val="0"/>
              </a:spcBef>
            </a:pPr>
            <a:r>
              <a:rPr lang="en-US" sz="3199">
                <a:solidFill>
                  <a:srgbClr val="000000"/>
                </a:solidFill>
                <a:latin typeface="Archivo Black"/>
                <a:ea typeface="Archivo Black"/>
                <a:cs typeface="Archivo Black"/>
                <a:sym typeface="Archivo Black"/>
              </a:rPr>
              <a:t> Paper 3: Predictive Maintenance Scheduling for Aircraft Engines Based on Remaining Useful Life Prediction (IEEE IoT J., 2024)</a:t>
            </a:r>
          </a:p>
        </p:txBody>
      </p:sp>
      <p:grpSp>
        <p:nvGrpSpPr>
          <p:cNvPr name="Group 7" id="7"/>
          <p:cNvGrpSpPr/>
          <p:nvPr/>
        </p:nvGrpSpPr>
        <p:grpSpPr>
          <a:xfrm rot="0">
            <a:off x="-257175" y="9754130"/>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3230560"/>
            <a:ext cx="16230600" cy="4967605"/>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Poppins Bold"/>
                <a:ea typeface="Poppins Bold"/>
                <a:cs typeface="Poppins Bold"/>
                <a:sym typeface="Poppins Bold"/>
              </a:rPr>
              <a:t>Objective: </a:t>
            </a:r>
            <a:r>
              <a:rPr lang="en-US" sz="2799">
                <a:solidFill>
                  <a:srgbClr val="000000"/>
                </a:solidFill>
                <a:latin typeface="Poppins"/>
                <a:ea typeface="Poppins"/>
                <a:cs typeface="Poppins"/>
                <a:sym typeface="Poppins"/>
              </a:rPr>
              <a:t>Develop a data-driven framework for accurate RUL prediction and efficient, fleet-wide maintenance scheduling for aircraft engines.</a:t>
            </a:r>
          </a:p>
          <a:p>
            <a:pPr algn="l">
              <a:lnSpc>
                <a:spcPts val="3919"/>
              </a:lnSpc>
              <a:spcBef>
                <a:spcPct val="0"/>
              </a:spcBef>
            </a:pPr>
            <a:r>
              <a:rPr lang="en-US" b="true" sz="2799">
                <a:solidFill>
                  <a:srgbClr val="000000"/>
                </a:solidFill>
                <a:latin typeface="Poppins Bold"/>
                <a:ea typeface="Poppins Bold"/>
                <a:cs typeface="Poppins Bold"/>
                <a:sym typeface="Poppins Bold"/>
              </a:rPr>
              <a:t>Method:</a:t>
            </a:r>
            <a:r>
              <a:rPr lang="en-US" sz="2799">
                <a:solidFill>
                  <a:srgbClr val="000000"/>
                </a:solidFill>
                <a:latin typeface="Poppins"/>
                <a:ea typeface="Poppins"/>
                <a:cs typeface="Poppins"/>
                <a:sym typeface="Poppins"/>
              </a:rPr>
              <a:t> Employs a deep ensemble (CNN + Bi-LSTM with attention), feature learning, temporal modeling, Bayesian optimization for hyperparameters, and MILP for scheduling.</a:t>
            </a:r>
          </a:p>
          <a:p>
            <a:pPr algn="l">
              <a:lnSpc>
                <a:spcPts val="3919"/>
              </a:lnSpc>
              <a:spcBef>
                <a:spcPct val="0"/>
              </a:spcBef>
            </a:pPr>
            <a:r>
              <a:rPr lang="en-US" b="true" sz="2799">
                <a:solidFill>
                  <a:srgbClr val="000000"/>
                </a:solidFill>
                <a:latin typeface="Poppins Bold"/>
                <a:ea typeface="Poppins Bold"/>
                <a:cs typeface="Poppins Bold"/>
                <a:sym typeface="Poppins Bold"/>
              </a:rPr>
              <a:t>Key Result:</a:t>
            </a:r>
            <a:r>
              <a:rPr lang="en-US" sz="2799">
                <a:solidFill>
                  <a:srgbClr val="000000"/>
                </a:solidFill>
                <a:latin typeface="Poppins"/>
                <a:ea typeface="Poppins"/>
                <a:cs typeface="Poppins"/>
                <a:sym typeface="Poppins"/>
              </a:rPr>
              <a:t> Outperforms prior methods in RUL accuracy and maintenance time optimization; can handle real-time status monitoring and multi-engine scheduling.</a:t>
            </a:r>
          </a:p>
          <a:p>
            <a:pPr algn="l">
              <a:lnSpc>
                <a:spcPts val="3919"/>
              </a:lnSpc>
              <a:spcBef>
                <a:spcPct val="0"/>
              </a:spcBef>
            </a:pPr>
            <a:r>
              <a:rPr lang="en-US" b="true" sz="2799">
                <a:solidFill>
                  <a:srgbClr val="000000"/>
                </a:solidFill>
                <a:latin typeface="Poppins Bold"/>
                <a:ea typeface="Poppins Bold"/>
                <a:cs typeface="Poppins Bold"/>
                <a:sym typeface="Poppins Bold"/>
              </a:rPr>
              <a:t>Strengths:</a:t>
            </a:r>
            <a:r>
              <a:rPr lang="en-US" sz="2799">
                <a:solidFill>
                  <a:srgbClr val="000000"/>
                </a:solidFill>
                <a:latin typeface="Poppins"/>
                <a:ea typeface="Poppins"/>
                <a:cs typeface="Poppins"/>
                <a:sym typeface="Poppins"/>
              </a:rPr>
              <a:t> Hybrid deep learning captures spatial/temporal dependencies; robust scheduling; optimization-driven.</a:t>
            </a:r>
          </a:p>
          <a:p>
            <a:pPr algn="l">
              <a:lnSpc>
                <a:spcPts val="3919"/>
              </a:lnSpc>
              <a:spcBef>
                <a:spcPct val="0"/>
              </a:spcBef>
            </a:pPr>
            <a:r>
              <a:rPr lang="en-US" b="true" sz="2799">
                <a:solidFill>
                  <a:srgbClr val="000000"/>
                </a:solidFill>
                <a:latin typeface="Poppins Bold"/>
                <a:ea typeface="Poppins Bold"/>
                <a:cs typeface="Poppins Bold"/>
                <a:sym typeface="Poppins Bold"/>
              </a:rPr>
              <a:t>Limitations: </a:t>
            </a:r>
            <a:r>
              <a:rPr lang="en-US" sz="2799">
                <a:solidFill>
                  <a:srgbClr val="000000"/>
                </a:solidFill>
                <a:latin typeface="Poppins"/>
                <a:ea typeface="Poppins"/>
                <a:cs typeface="Poppins"/>
                <a:sym typeface="Poppins"/>
              </a:rPr>
              <a:t>Complex pipeline, high computational cost, requires careful hyperparameter tuning.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857891"/>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47448"/>
            <a:ext cx="15982334" cy="1109345"/>
          </a:xfrm>
          <a:prstGeom prst="rect">
            <a:avLst/>
          </a:prstGeom>
        </p:spPr>
        <p:txBody>
          <a:bodyPr anchor="t" rtlCol="false" tIns="0" lIns="0" bIns="0" rIns="0">
            <a:spAutoFit/>
          </a:bodyPr>
          <a:lstStyle/>
          <a:p>
            <a:pPr algn="ctr">
              <a:lnSpc>
                <a:spcPts val="4479"/>
              </a:lnSpc>
              <a:spcBef>
                <a:spcPct val="0"/>
              </a:spcBef>
            </a:pPr>
            <a:r>
              <a:rPr lang="en-US" sz="3199">
                <a:solidFill>
                  <a:srgbClr val="000000"/>
                </a:solidFill>
                <a:latin typeface="Archivo Black"/>
                <a:ea typeface="Archivo Black"/>
                <a:cs typeface="Archivo Black"/>
                <a:sym typeface="Archivo Black"/>
              </a:rPr>
              <a:t> Paper 4: Remaining Useful Life Prediction of Turbofan Engines Using CNN-GRU (JMCIE, 2025)</a:t>
            </a:r>
          </a:p>
        </p:txBody>
      </p:sp>
      <p:grpSp>
        <p:nvGrpSpPr>
          <p:cNvPr name="Group 7" id="7"/>
          <p:cNvGrpSpPr/>
          <p:nvPr/>
        </p:nvGrpSpPr>
        <p:grpSpPr>
          <a:xfrm rot="0">
            <a:off x="-257175" y="9754130"/>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3109135"/>
            <a:ext cx="16230600" cy="4472305"/>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Poppins Bold"/>
                <a:ea typeface="Poppins Bold"/>
                <a:cs typeface="Poppins Bold"/>
                <a:sym typeface="Poppins Bold"/>
              </a:rPr>
              <a:t>Objective:</a:t>
            </a:r>
            <a:r>
              <a:rPr lang="en-US" sz="2800">
                <a:solidFill>
                  <a:srgbClr val="000000"/>
                </a:solidFill>
                <a:latin typeface="Poppins"/>
                <a:ea typeface="Poppins"/>
                <a:cs typeface="Poppins"/>
                <a:sym typeface="Poppins"/>
              </a:rPr>
              <a:t> Enhance RUL prediction by integrating CNN (for spatial features) and GRU (for temporal dependencies) using aircraft engine sensor data.</a:t>
            </a:r>
          </a:p>
          <a:p>
            <a:pPr algn="l">
              <a:lnSpc>
                <a:spcPts val="3920"/>
              </a:lnSpc>
              <a:spcBef>
                <a:spcPct val="0"/>
              </a:spcBef>
            </a:pPr>
            <a:r>
              <a:rPr lang="en-US" b="true" sz="2800">
                <a:solidFill>
                  <a:srgbClr val="000000"/>
                </a:solidFill>
                <a:latin typeface="Poppins Bold"/>
                <a:ea typeface="Poppins Bold"/>
                <a:cs typeface="Poppins Bold"/>
                <a:sym typeface="Poppins Bold"/>
              </a:rPr>
              <a:t>Method:</a:t>
            </a:r>
            <a:r>
              <a:rPr lang="en-US" sz="2800">
                <a:solidFill>
                  <a:srgbClr val="000000"/>
                </a:solidFill>
                <a:latin typeface="Poppins"/>
                <a:ea typeface="Poppins"/>
                <a:cs typeface="Poppins"/>
                <a:sym typeface="Poppins"/>
              </a:rPr>
              <a:t> Applies windowing, normalization, and combined CNN-GRU architecture on C-MAPSS datasets, tuning architectures for different operational scenarios.</a:t>
            </a:r>
          </a:p>
          <a:p>
            <a:pPr algn="l">
              <a:lnSpc>
                <a:spcPts val="3920"/>
              </a:lnSpc>
              <a:spcBef>
                <a:spcPct val="0"/>
              </a:spcBef>
            </a:pPr>
            <a:r>
              <a:rPr lang="en-US" b="true" sz="2800">
                <a:solidFill>
                  <a:srgbClr val="000000"/>
                </a:solidFill>
                <a:latin typeface="Poppins Bold"/>
                <a:ea typeface="Poppins Bold"/>
                <a:cs typeface="Poppins Bold"/>
                <a:sym typeface="Poppins Bold"/>
              </a:rPr>
              <a:t>Key Result: </a:t>
            </a:r>
            <a:r>
              <a:rPr lang="en-US" sz="2800">
                <a:solidFill>
                  <a:srgbClr val="000000"/>
                </a:solidFill>
                <a:latin typeface="Poppins"/>
                <a:ea typeface="Poppins"/>
                <a:cs typeface="Poppins"/>
                <a:sym typeface="Poppins"/>
              </a:rPr>
              <a:t>CNN-GRU consistently delivers lower RMSE and improved robustness compared to conventional ML (MLP, SVR); adapts better to distinct data types.</a:t>
            </a:r>
          </a:p>
          <a:p>
            <a:pPr algn="l">
              <a:lnSpc>
                <a:spcPts val="3920"/>
              </a:lnSpc>
              <a:spcBef>
                <a:spcPct val="0"/>
              </a:spcBef>
            </a:pPr>
            <a:r>
              <a:rPr lang="en-US" b="true" sz="2800">
                <a:solidFill>
                  <a:srgbClr val="000000"/>
                </a:solidFill>
                <a:latin typeface="Poppins Bold"/>
                <a:ea typeface="Poppins Bold"/>
                <a:cs typeface="Poppins Bold"/>
                <a:sym typeface="Poppins Bold"/>
              </a:rPr>
              <a:t>Strengths:</a:t>
            </a:r>
            <a:r>
              <a:rPr lang="en-US" sz="2800">
                <a:solidFill>
                  <a:srgbClr val="000000"/>
                </a:solidFill>
                <a:latin typeface="Poppins"/>
                <a:ea typeface="Poppins"/>
                <a:cs typeface="Poppins"/>
                <a:sym typeface="Poppins"/>
              </a:rPr>
              <a:t> Efficient training, high accuracy, adaptable across datasets, good scalability.</a:t>
            </a:r>
          </a:p>
          <a:p>
            <a:pPr algn="l">
              <a:lnSpc>
                <a:spcPts val="3920"/>
              </a:lnSpc>
              <a:spcBef>
                <a:spcPct val="0"/>
              </a:spcBef>
            </a:pPr>
            <a:r>
              <a:rPr lang="en-US" b="true" sz="2800">
                <a:solidFill>
                  <a:srgbClr val="000000"/>
                </a:solidFill>
                <a:latin typeface="Poppins Bold"/>
                <a:ea typeface="Poppins Bold"/>
                <a:cs typeface="Poppins Bold"/>
                <a:sym typeface="Poppins Bold"/>
              </a:rPr>
              <a:t>Limitations:</a:t>
            </a:r>
            <a:r>
              <a:rPr lang="en-US" sz="2800">
                <a:solidFill>
                  <a:srgbClr val="000000"/>
                </a:solidFill>
                <a:latin typeface="Poppins"/>
                <a:ea typeface="Poppins"/>
                <a:cs typeface="Poppins"/>
                <a:sym typeface="Poppins"/>
              </a:rPr>
              <a:t> Model performance can vary by dataset; significant computational demand for training and tuning.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857891"/>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47448"/>
            <a:ext cx="15982334" cy="1109345"/>
          </a:xfrm>
          <a:prstGeom prst="rect">
            <a:avLst/>
          </a:prstGeom>
        </p:spPr>
        <p:txBody>
          <a:bodyPr anchor="t" rtlCol="false" tIns="0" lIns="0" bIns="0" rIns="0">
            <a:spAutoFit/>
          </a:bodyPr>
          <a:lstStyle/>
          <a:p>
            <a:pPr algn="ctr">
              <a:lnSpc>
                <a:spcPts val="4479"/>
              </a:lnSpc>
              <a:spcBef>
                <a:spcPct val="0"/>
              </a:spcBef>
            </a:pPr>
            <a:r>
              <a:rPr lang="en-US" sz="3199">
                <a:solidFill>
                  <a:srgbClr val="000000"/>
                </a:solidFill>
                <a:latin typeface="Archivo Black"/>
                <a:ea typeface="Archivo Black"/>
                <a:cs typeface="Archivo Black"/>
                <a:sym typeface="Archivo Black"/>
              </a:rPr>
              <a:t> Paper 5: Comparative Study on the Prediction of Remaining Useful Life of an Aircraft Engine (IRJET, 2022)</a:t>
            </a:r>
          </a:p>
        </p:txBody>
      </p:sp>
      <p:grpSp>
        <p:nvGrpSpPr>
          <p:cNvPr name="Group 7" id="7"/>
          <p:cNvGrpSpPr/>
          <p:nvPr/>
        </p:nvGrpSpPr>
        <p:grpSpPr>
          <a:xfrm rot="0">
            <a:off x="-257175" y="9754130"/>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2895904"/>
            <a:ext cx="16230600" cy="4967605"/>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Poppins Bold"/>
                <a:ea typeface="Poppins Bold"/>
                <a:cs typeface="Poppins Bold"/>
                <a:sym typeface="Poppins Bold"/>
              </a:rPr>
              <a:t>Objective:</a:t>
            </a:r>
            <a:r>
              <a:rPr lang="en-US" sz="2799">
                <a:solidFill>
                  <a:srgbClr val="000000"/>
                </a:solidFill>
                <a:latin typeface="Poppins"/>
                <a:ea typeface="Poppins"/>
                <a:cs typeface="Poppins"/>
                <a:sym typeface="Poppins"/>
              </a:rPr>
              <a:t> Benchmark the effectiveness of various machine learning and deep learning algorithms for aircraft engine RUL estimation.</a:t>
            </a:r>
          </a:p>
          <a:p>
            <a:pPr algn="l">
              <a:lnSpc>
                <a:spcPts val="3919"/>
              </a:lnSpc>
              <a:spcBef>
                <a:spcPct val="0"/>
              </a:spcBef>
            </a:pPr>
            <a:r>
              <a:rPr lang="en-US" b="true" sz="2799">
                <a:solidFill>
                  <a:srgbClr val="000000"/>
                </a:solidFill>
                <a:latin typeface="Poppins Bold"/>
                <a:ea typeface="Poppins Bold"/>
                <a:cs typeface="Poppins Bold"/>
                <a:sym typeface="Poppins Bold"/>
              </a:rPr>
              <a:t>Method:</a:t>
            </a:r>
            <a:r>
              <a:rPr lang="en-US" sz="2799">
                <a:solidFill>
                  <a:srgbClr val="000000"/>
                </a:solidFill>
                <a:latin typeface="Poppins"/>
                <a:ea typeface="Poppins"/>
                <a:cs typeface="Poppins"/>
                <a:sym typeface="Poppins"/>
              </a:rPr>
              <a:t> Trains and compares linear regression, SVR, decision tree, random forest, gradient boosting, KNN, ANN, and CNN on C-MAPSS/PHM08 datasets.</a:t>
            </a:r>
          </a:p>
          <a:p>
            <a:pPr algn="l">
              <a:lnSpc>
                <a:spcPts val="3919"/>
              </a:lnSpc>
              <a:spcBef>
                <a:spcPct val="0"/>
              </a:spcBef>
            </a:pPr>
            <a:r>
              <a:rPr lang="en-US" b="true" sz="2799">
                <a:solidFill>
                  <a:srgbClr val="000000"/>
                </a:solidFill>
                <a:latin typeface="Poppins Bold"/>
                <a:ea typeface="Poppins Bold"/>
                <a:cs typeface="Poppins Bold"/>
                <a:sym typeface="Poppins Bold"/>
              </a:rPr>
              <a:t>Key Result:</a:t>
            </a:r>
            <a:r>
              <a:rPr lang="en-US" sz="2799">
                <a:solidFill>
                  <a:srgbClr val="000000"/>
                </a:solidFill>
                <a:latin typeface="Poppins"/>
                <a:ea typeface="Poppins"/>
                <a:cs typeface="Poppins"/>
                <a:sym typeface="Poppins"/>
              </a:rPr>
              <a:t> Random Forest (with piecewise RUL method) yields best accuracy, while CNN and ANN improve on nonlinear patterns; lower prediction accuracy from classic ML models.</a:t>
            </a:r>
          </a:p>
          <a:p>
            <a:pPr algn="l">
              <a:lnSpc>
                <a:spcPts val="3919"/>
              </a:lnSpc>
              <a:spcBef>
                <a:spcPct val="0"/>
              </a:spcBef>
            </a:pPr>
            <a:r>
              <a:rPr lang="en-US" b="true" sz="2799">
                <a:solidFill>
                  <a:srgbClr val="000000"/>
                </a:solidFill>
                <a:latin typeface="Poppins Bold"/>
                <a:ea typeface="Poppins Bold"/>
                <a:cs typeface="Poppins Bold"/>
                <a:sym typeface="Poppins Bold"/>
              </a:rPr>
              <a:t>Strengths:</a:t>
            </a:r>
            <a:r>
              <a:rPr lang="en-US" sz="2799">
                <a:solidFill>
                  <a:srgbClr val="000000"/>
                </a:solidFill>
                <a:latin typeface="Poppins"/>
                <a:ea typeface="Poppins"/>
                <a:cs typeface="Poppins"/>
                <a:sym typeface="Poppins"/>
              </a:rPr>
              <a:t> Comprehensive algorithm comparison, highlights data preprocessing and feature selection practices.</a:t>
            </a:r>
          </a:p>
          <a:p>
            <a:pPr algn="l">
              <a:lnSpc>
                <a:spcPts val="3919"/>
              </a:lnSpc>
              <a:spcBef>
                <a:spcPct val="0"/>
              </a:spcBef>
            </a:pPr>
            <a:r>
              <a:rPr lang="en-US" b="true" sz="2799">
                <a:solidFill>
                  <a:srgbClr val="000000"/>
                </a:solidFill>
                <a:latin typeface="Poppins Bold"/>
                <a:ea typeface="Poppins Bold"/>
                <a:cs typeface="Poppins Bold"/>
                <a:sym typeface="Poppins Bold"/>
              </a:rPr>
              <a:t>Limitations:</a:t>
            </a:r>
            <a:r>
              <a:rPr lang="en-US" sz="2799">
                <a:solidFill>
                  <a:srgbClr val="000000"/>
                </a:solidFill>
                <a:latin typeface="Poppins"/>
                <a:ea typeface="Poppins"/>
                <a:cs typeface="Poppins"/>
                <a:sym typeface="Poppins"/>
              </a:rPr>
              <a:t> Does not address real-time deployment; struggles with non-sequential test data, and limited exploration of hybrid or ensemble models.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0"/>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804621" y="429920"/>
            <a:ext cx="4678759"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METHODOLOGY</a:t>
            </a:r>
          </a:p>
        </p:txBody>
      </p:sp>
      <p:sp>
        <p:nvSpPr>
          <p:cNvPr name="TextBox 7" id="7"/>
          <p:cNvSpPr txBox="true"/>
          <p:nvPr/>
        </p:nvSpPr>
        <p:spPr>
          <a:xfrm rot="0">
            <a:off x="1028700" y="2023435"/>
            <a:ext cx="16230600" cy="2250567"/>
          </a:xfrm>
          <a:prstGeom prst="rect">
            <a:avLst/>
          </a:prstGeom>
        </p:spPr>
        <p:txBody>
          <a:bodyPr anchor="t" rtlCol="false" tIns="0" lIns="0" bIns="0" rIns="0">
            <a:spAutoFit/>
          </a:bodyPr>
          <a:lstStyle/>
          <a:p>
            <a:pPr algn="l">
              <a:lnSpc>
                <a:spcPts val="3528"/>
              </a:lnSpc>
              <a:spcBef>
                <a:spcPct val="0"/>
              </a:spcBef>
            </a:pPr>
            <a:r>
              <a:rPr lang="en-US" b="true" sz="2520">
                <a:solidFill>
                  <a:srgbClr val="000000"/>
                </a:solidFill>
                <a:latin typeface="Poppins Bold"/>
                <a:ea typeface="Poppins Bold"/>
                <a:cs typeface="Poppins Bold"/>
                <a:sym typeface="Poppins Bold"/>
              </a:rPr>
              <a:t>1. Overview of</a:t>
            </a:r>
            <a:r>
              <a:rPr lang="en-US" b="true" sz="2520">
                <a:solidFill>
                  <a:srgbClr val="000000"/>
                </a:solidFill>
                <a:latin typeface="Poppins Bold"/>
                <a:ea typeface="Poppins Bold"/>
                <a:cs typeface="Poppins Bold"/>
                <a:sym typeface="Poppins Bold"/>
              </a:rPr>
              <a:t> the Proposed Hybrid Approach</a:t>
            </a:r>
          </a:p>
          <a:p>
            <a:pPr algn="l">
              <a:lnSpc>
                <a:spcPts val="3528"/>
              </a:lnSpc>
              <a:spcBef>
                <a:spcPct val="0"/>
              </a:spcBef>
            </a:pPr>
            <a:r>
              <a:rPr lang="en-US" sz="2520">
                <a:solidFill>
                  <a:srgbClr val="000000"/>
                </a:solidFill>
                <a:latin typeface="Poppins"/>
                <a:ea typeface="Poppins"/>
                <a:cs typeface="Poppins"/>
                <a:sym typeface="Poppins"/>
              </a:rPr>
              <a:t>The proposed method adopts a hybrid, residual-driven pipeline for Remaining Useful Life (RUL) prediction. Instead of using a single end-to-end deep learning model, the method decouples the degradation components into linear (global) trends and non-linear (complex) patterns, allowing each component of the architecture to focus on a specific challenge present in turbofan sensor data.</a:t>
            </a:r>
          </a:p>
        </p:txBody>
      </p:sp>
      <p:grpSp>
        <p:nvGrpSpPr>
          <p:cNvPr name="Group 8" id="8"/>
          <p:cNvGrpSpPr/>
          <p:nvPr/>
        </p:nvGrpSpPr>
        <p:grpSpPr>
          <a:xfrm rot="0">
            <a:off x="-257175" y="9754130"/>
            <a:ext cx="18802350" cy="1715783"/>
            <a:chOff x="0" y="0"/>
            <a:chExt cx="4952059" cy="451893"/>
          </a:xfrm>
        </p:grpSpPr>
        <p:sp>
          <p:nvSpPr>
            <p:cNvPr name="Freeform 9" id="9"/>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10" id="10"/>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4645477"/>
            <a:ext cx="16230600" cy="3145917"/>
          </a:xfrm>
          <a:prstGeom prst="rect">
            <a:avLst/>
          </a:prstGeom>
        </p:spPr>
        <p:txBody>
          <a:bodyPr anchor="t" rtlCol="false" tIns="0" lIns="0" bIns="0" rIns="0">
            <a:spAutoFit/>
          </a:bodyPr>
          <a:lstStyle/>
          <a:p>
            <a:pPr algn="l">
              <a:lnSpc>
                <a:spcPts val="3528"/>
              </a:lnSpc>
              <a:spcBef>
                <a:spcPct val="0"/>
              </a:spcBef>
            </a:pPr>
            <a:r>
              <a:rPr lang="en-US" sz="2520">
                <a:solidFill>
                  <a:srgbClr val="000000"/>
                </a:solidFill>
                <a:latin typeface="Poppins"/>
                <a:ea typeface="Poppins"/>
                <a:cs typeface="Poppins"/>
                <a:sym typeface="Poppins"/>
              </a:rPr>
              <a:t>The pipeline consists of:</a:t>
            </a:r>
          </a:p>
          <a:p>
            <a:pPr algn="l">
              <a:lnSpc>
                <a:spcPts val="3528"/>
              </a:lnSpc>
              <a:spcBef>
                <a:spcPct val="0"/>
              </a:spcBef>
            </a:pPr>
            <a:r>
              <a:rPr lang="en-US" sz="2520">
                <a:solidFill>
                  <a:srgbClr val="000000"/>
                </a:solidFill>
                <a:latin typeface="Poppins"/>
                <a:ea typeface="Poppins"/>
                <a:cs typeface="Poppins"/>
                <a:sym typeface="Poppins"/>
              </a:rPr>
              <a:t>1.Linear detrending</a:t>
            </a:r>
          </a:p>
          <a:p>
            <a:pPr algn="l">
              <a:lnSpc>
                <a:spcPts val="3528"/>
              </a:lnSpc>
              <a:spcBef>
                <a:spcPct val="0"/>
              </a:spcBef>
            </a:pPr>
            <a:r>
              <a:rPr lang="en-US" sz="2520">
                <a:solidFill>
                  <a:srgbClr val="000000"/>
                </a:solidFill>
                <a:latin typeface="Poppins"/>
                <a:ea typeface="Poppins"/>
                <a:cs typeface="Poppins"/>
                <a:sym typeface="Poppins"/>
              </a:rPr>
              <a:t>2.CNN Autoencoder-based spatial feature extraction</a:t>
            </a:r>
          </a:p>
          <a:p>
            <a:pPr algn="l">
              <a:lnSpc>
                <a:spcPts val="3528"/>
              </a:lnSpc>
              <a:spcBef>
                <a:spcPct val="0"/>
              </a:spcBef>
            </a:pPr>
            <a:r>
              <a:rPr lang="en-US" sz="2520">
                <a:solidFill>
                  <a:srgbClr val="000000"/>
                </a:solidFill>
                <a:latin typeface="Poppins"/>
                <a:ea typeface="Poppins"/>
                <a:cs typeface="Poppins"/>
                <a:sym typeface="Poppins"/>
              </a:rPr>
              <a:t>3.LSTM Autoencoder-based temporal feature refinement</a:t>
            </a:r>
          </a:p>
          <a:p>
            <a:pPr algn="l">
              <a:lnSpc>
                <a:spcPts val="3528"/>
              </a:lnSpc>
              <a:spcBef>
                <a:spcPct val="0"/>
              </a:spcBef>
            </a:pPr>
            <a:r>
              <a:rPr lang="en-US" sz="2520">
                <a:solidFill>
                  <a:srgbClr val="000000"/>
                </a:solidFill>
                <a:latin typeface="Poppins"/>
                <a:ea typeface="Poppins"/>
                <a:cs typeface="Poppins"/>
                <a:sym typeface="Poppins"/>
              </a:rPr>
              <a:t>4.Feature fusion</a:t>
            </a:r>
          </a:p>
          <a:p>
            <a:pPr algn="l">
              <a:lnSpc>
                <a:spcPts val="3528"/>
              </a:lnSpc>
              <a:spcBef>
                <a:spcPct val="0"/>
              </a:spcBef>
            </a:pPr>
            <a:r>
              <a:rPr lang="en-US" sz="2520">
                <a:solidFill>
                  <a:srgbClr val="000000"/>
                </a:solidFill>
                <a:latin typeface="Poppins"/>
                <a:ea typeface="Poppins"/>
                <a:cs typeface="Poppins"/>
                <a:sym typeface="Poppins"/>
              </a:rPr>
              <a:t>5.Final regression-based RUL prediction</a:t>
            </a:r>
          </a:p>
          <a:p>
            <a:pPr algn="l">
              <a:lnSpc>
                <a:spcPts val="3528"/>
              </a:lnSpc>
              <a:spcBef>
                <a:spcPct val="0"/>
              </a:spcBef>
            </a:pPr>
            <a:r>
              <a:rPr lang="en-US" sz="2520">
                <a:solidFill>
                  <a:srgbClr val="000000"/>
                </a:solidFill>
                <a:latin typeface="Poppins"/>
                <a:ea typeface="Poppins"/>
                <a:cs typeface="Poppins"/>
                <a:sym typeface="Poppins"/>
              </a:rPr>
              <a:t>This modular strategy provides robustness, interpretability, and improved noise resistance.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9754130"/>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952500"/>
            <a:ext cx="16230600" cy="4041267"/>
          </a:xfrm>
          <a:prstGeom prst="rect">
            <a:avLst/>
          </a:prstGeom>
        </p:spPr>
        <p:txBody>
          <a:bodyPr anchor="t" rtlCol="false" tIns="0" lIns="0" bIns="0" rIns="0">
            <a:spAutoFit/>
          </a:bodyPr>
          <a:lstStyle/>
          <a:p>
            <a:pPr algn="l">
              <a:lnSpc>
                <a:spcPts val="3528"/>
              </a:lnSpc>
              <a:spcBef>
                <a:spcPct val="0"/>
              </a:spcBef>
            </a:pPr>
            <a:r>
              <a:rPr lang="en-US" b="true" sz="2520">
                <a:solidFill>
                  <a:srgbClr val="000000"/>
                </a:solidFill>
                <a:latin typeface="Poppins Bold"/>
                <a:ea typeface="Poppins Bold"/>
                <a:cs typeface="Poppins Bold"/>
                <a:sym typeface="Poppins Bold"/>
              </a:rPr>
              <a:t>2. Linear Detrending Stage</a:t>
            </a:r>
          </a:p>
          <a:p>
            <a:pPr algn="l">
              <a:lnSpc>
                <a:spcPts val="3528"/>
              </a:lnSpc>
              <a:spcBef>
                <a:spcPct val="0"/>
              </a:spcBef>
            </a:pPr>
            <a:r>
              <a:rPr lang="en-US" sz="2520">
                <a:solidFill>
                  <a:srgbClr val="000000"/>
                </a:solidFill>
                <a:latin typeface="Poppins"/>
                <a:ea typeface="Poppins"/>
                <a:cs typeface="Poppins"/>
                <a:sym typeface="Poppins"/>
              </a:rPr>
              <a:t>Jet engine degradation consists of two components:</a:t>
            </a:r>
          </a:p>
          <a:p>
            <a:pPr algn="l">
              <a:lnSpc>
                <a:spcPts val="3528"/>
              </a:lnSpc>
              <a:spcBef>
                <a:spcPct val="0"/>
              </a:spcBef>
            </a:pPr>
            <a:r>
              <a:rPr lang="en-US" sz="2520">
                <a:solidFill>
                  <a:srgbClr val="000000"/>
                </a:solidFill>
                <a:latin typeface="Poppins"/>
                <a:ea typeface="Poppins"/>
                <a:cs typeface="Poppins"/>
                <a:sym typeface="Poppins"/>
              </a:rPr>
              <a:t>A linear global trend caused by gradual wear</a:t>
            </a:r>
          </a:p>
          <a:p>
            <a:pPr algn="l">
              <a:lnSpc>
                <a:spcPts val="3528"/>
              </a:lnSpc>
              <a:spcBef>
                <a:spcPct val="0"/>
              </a:spcBef>
            </a:pPr>
            <a:r>
              <a:rPr lang="en-US" sz="2520">
                <a:solidFill>
                  <a:srgbClr val="000000"/>
                </a:solidFill>
                <a:latin typeface="Poppins"/>
                <a:ea typeface="Poppins"/>
                <a:cs typeface="Poppins"/>
                <a:sym typeface="Poppins"/>
              </a:rPr>
              <a:t>A non-linear residual caused by complex, fault-driven behavior</a:t>
            </a:r>
          </a:p>
          <a:p>
            <a:pPr algn="l">
              <a:lnSpc>
                <a:spcPts val="3528"/>
              </a:lnSpc>
              <a:spcBef>
                <a:spcPct val="0"/>
              </a:spcBef>
            </a:pPr>
            <a:r>
              <a:rPr lang="en-US" sz="2520">
                <a:solidFill>
                  <a:srgbClr val="000000"/>
                </a:solidFill>
                <a:latin typeface="Poppins"/>
                <a:ea typeface="Poppins"/>
                <a:cs typeface="Poppins"/>
                <a:sym typeface="Poppins"/>
              </a:rPr>
              <a:t>To isolate the true degradation signal, a Linear Regression detrending model is applied to each engine cycle. The predicted linear component is removed from the sensor data, resulting in residual signals that contain only the non-linear degradation information.</a:t>
            </a:r>
          </a:p>
          <a:p>
            <a:pPr algn="l">
              <a:lnSpc>
                <a:spcPts val="3528"/>
              </a:lnSpc>
              <a:spcBef>
                <a:spcPct val="0"/>
              </a:spcBef>
            </a:pPr>
            <a:r>
              <a:rPr lang="en-US" sz="2520">
                <a:solidFill>
                  <a:srgbClr val="000000"/>
                </a:solidFill>
                <a:latin typeface="Poppins"/>
                <a:ea typeface="Poppins"/>
                <a:cs typeface="Poppins"/>
                <a:sym typeface="Poppins"/>
              </a:rPr>
              <a:t>This ensures that deep neural networks focus solely on difficult-to-learn patterns, rather than wasting capacity on simple linear drift.</a:t>
            </a:r>
          </a:p>
        </p:txBody>
      </p:sp>
      <p:grpSp>
        <p:nvGrpSpPr>
          <p:cNvPr name="Group 7" id="7"/>
          <p:cNvGrpSpPr/>
          <p:nvPr/>
        </p:nvGrpSpPr>
        <p:grpSpPr>
          <a:xfrm rot="0">
            <a:off x="-257175" y="-1139561"/>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181912" y="5393817"/>
            <a:ext cx="16230600" cy="3574542"/>
          </a:xfrm>
          <a:prstGeom prst="rect">
            <a:avLst/>
          </a:prstGeom>
        </p:spPr>
        <p:txBody>
          <a:bodyPr anchor="t" rtlCol="false" tIns="0" lIns="0" bIns="0" rIns="0">
            <a:spAutoFit/>
          </a:bodyPr>
          <a:lstStyle/>
          <a:p>
            <a:pPr algn="l">
              <a:lnSpc>
                <a:spcPts val="3528"/>
              </a:lnSpc>
              <a:spcBef>
                <a:spcPct val="0"/>
              </a:spcBef>
            </a:pPr>
            <a:r>
              <a:rPr lang="en-US" sz="2520">
                <a:solidFill>
                  <a:srgbClr val="000000"/>
                </a:solidFill>
                <a:latin typeface="Archivo Black"/>
                <a:ea typeface="Archivo Black"/>
                <a:cs typeface="Archivo Black"/>
                <a:sym typeface="Archivo Black"/>
              </a:rPr>
              <a:t>3. CNN Autoencoder</a:t>
            </a:r>
            <a:r>
              <a:rPr lang="en-US" sz="2520">
                <a:solidFill>
                  <a:srgbClr val="000000"/>
                </a:solidFill>
                <a:latin typeface="Archivo Black"/>
                <a:ea typeface="Archivo Black"/>
                <a:cs typeface="Archivo Black"/>
                <a:sym typeface="Archivo Black"/>
              </a:rPr>
              <a:t> for Spatial Feature Extraction</a:t>
            </a:r>
          </a:p>
          <a:p>
            <a:pPr algn="l">
              <a:lnSpc>
                <a:spcPts val="3528"/>
              </a:lnSpc>
              <a:spcBef>
                <a:spcPct val="0"/>
              </a:spcBef>
            </a:pPr>
            <a:r>
              <a:rPr lang="en-US" sz="2520">
                <a:solidFill>
                  <a:srgbClr val="000000"/>
                </a:solidFill>
                <a:latin typeface="Poppins"/>
                <a:ea typeface="Poppins"/>
                <a:cs typeface="Poppins"/>
                <a:sym typeface="Poppins"/>
              </a:rPr>
              <a:t>The detrended residual signals are passed through a Convolutional Neural Network (CNN) Autoencoder, whose purpose is:</a:t>
            </a:r>
          </a:p>
          <a:p>
            <a:pPr algn="l" marL="544068" indent="-272034" lvl="1">
              <a:lnSpc>
                <a:spcPts val="3528"/>
              </a:lnSpc>
              <a:spcBef>
                <a:spcPct val="0"/>
              </a:spcBef>
              <a:buFont typeface="Arial"/>
              <a:buChar char="•"/>
            </a:pPr>
            <a:r>
              <a:rPr lang="en-US" sz="2520">
                <a:solidFill>
                  <a:srgbClr val="000000"/>
                </a:solidFill>
                <a:latin typeface="Poppins"/>
                <a:ea typeface="Poppins"/>
                <a:cs typeface="Poppins"/>
                <a:sym typeface="Poppins"/>
              </a:rPr>
              <a:t>Local spatial pattern extraction across sensor channels</a:t>
            </a:r>
          </a:p>
          <a:p>
            <a:pPr algn="l" marL="544068" indent="-272034" lvl="1">
              <a:lnSpc>
                <a:spcPts val="3528"/>
              </a:lnSpc>
              <a:spcBef>
                <a:spcPct val="0"/>
              </a:spcBef>
              <a:buFont typeface="Arial"/>
              <a:buChar char="•"/>
            </a:pPr>
            <a:r>
              <a:rPr lang="en-US" sz="2520">
                <a:solidFill>
                  <a:srgbClr val="000000"/>
                </a:solidFill>
                <a:latin typeface="Poppins"/>
                <a:ea typeface="Poppins"/>
                <a:cs typeface="Poppins"/>
                <a:sym typeface="Poppins"/>
              </a:rPr>
              <a:t>High-frequency noise removal</a:t>
            </a:r>
          </a:p>
          <a:p>
            <a:pPr algn="l" marL="544068" indent="-272034" lvl="1">
              <a:lnSpc>
                <a:spcPts val="3528"/>
              </a:lnSpc>
              <a:spcBef>
                <a:spcPct val="0"/>
              </a:spcBef>
              <a:buFont typeface="Arial"/>
              <a:buChar char="•"/>
            </a:pPr>
            <a:r>
              <a:rPr lang="en-US" sz="2520">
                <a:solidFill>
                  <a:srgbClr val="000000"/>
                </a:solidFill>
                <a:latin typeface="Poppins"/>
                <a:ea typeface="Poppins"/>
                <a:cs typeface="Poppins"/>
                <a:sym typeface="Poppins"/>
              </a:rPr>
              <a:t>Compressed latent representation for each timestep</a:t>
            </a:r>
          </a:p>
          <a:p>
            <a:pPr algn="l">
              <a:lnSpc>
                <a:spcPts val="3528"/>
              </a:lnSpc>
              <a:spcBef>
                <a:spcPct val="0"/>
              </a:spcBef>
            </a:pPr>
            <a:r>
              <a:rPr lang="en-US" sz="2520">
                <a:solidFill>
                  <a:srgbClr val="000000"/>
                </a:solidFill>
                <a:latin typeface="Poppins"/>
                <a:ea typeface="Poppins"/>
                <a:cs typeface="Poppins"/>
                <a:sym typeface="Poppins"/>
              </a:rPr>
              <a:t>The CNN encoder output forms a noise-free, dense feature vector capturing short-term degradation characteristics.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9754130"/>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1139561"/>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971550"/>
            <a:ext cx="16230600" cy="4022173"/>
          </a:xfrm>
          <a:prstGeom prst="rect">
            <a:avLst/>
          </a:prstGeom>
        </p:spPr>
        <p:txBody>
          <a:bodyPr anchor="t" rtlCol="false" tIns="0" lIns="0" bIns="0" rIns="0">
            <a:spAutoFit/>
          </a:bodyPr>
          <a:lstStyle/>
          <a:p>
            <a:pPr algn="l">
              <a:lnSpc>
                <a:spcPts val="3530"/>
              </a:lnSpc>
              <a:spcBef>
                <a:spcPct val="0"/>
              </a:spcBef>
            </a:pPr>
            <a:r>
              <a:rPr lang="en-US" sz="2521">
                <a:solidFill>
                  <a:srgbClr val="000000"/>
                </a:solidFill>
                <a:latin typeface="Archivo Black"/>
                <a:ea typeface="Archivo Black"/>
                <a:cs typeface="Archivo Black"/>
                <a:sym typeface="Archivo Black"/>
              </a:rPr>
              <a:t>4.</a:t>
            </a:r>
            <a:r>
              <a:rPr lang="en-US" sz="2521">
                <a:solidFill>
                  <a:srgbClr val="000000"/>
                </a:solidFill>
                <a:latin typeface="Archivo Black"/>
                <a:ea typeface="Archivo Black"/>
                <a:cs typeface="Archivo Black"/>
                <a:sym typeface="Archivo Black"/>
              </a:rPr>
              <a:t> LSTM Autoe</a:t>
            </a:r>
            <a:r>
              <a:rPr lang="en-US" sz="2521">
                <a:solidFill>
                  <a:srgbClr val="000000"/>
                </a:solidFill>
                <a:latin typeface="Archivo Black"/>
                <a:ea typeface="Archivo Black"/>
                <a:cs typeface="Archivo Black"/>
                <a:sym typeface="Archivo Black"/>
              </a:rPr>
              <a:t>ncoder for</a:t>
            </a:r>
            <a:r>
              <a:rPr lang="en-US" sz="2521">
                <a:solidFill>
                  <a:srgbClr val="000000"/>
                </a:solidFill>
                <a:latin typeface="Archivo Black"/>
                <a:ea typeface="Archivo Black"/>
                <a:cs typeface="Archivo Black"/>
                <a:sym typeface="Archivo Black"/>
              </a:rPr>
              <a:t> Temporal Modeling</a:t>
            </a:r>
          </a:p>
          <a:p>
            <a:pPr algn="l">
              <a:lnSpc>
                <a:spcPts val="3530"/>
              </a:lnSpc>
              <a:spcBef>
                <a:spcPct val="0"/>
              </a:spcBef>
            </a:pPr>
            <a:r>
              <a:rPr lang="en-US" sz="2521">
                <a:solidFill>
                  <a:srgbClr val="000000"/>
                </a:solidFill>
                <a:latin typeface="Poppins"/>
                <a:ea typeface="Poppins"/>
                <a:cs typeface="Poppins"/>
                <a:sym typeface="Poppins"/>
              </a:rPr>
              <a:t>The CNN latent features are further processed by an LSTM Autoencoder, which specializes in learning the:</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Long-term temporal dependencies</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Sequential evolution of degradation</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Cycle-level non-linear dynamics</a:t>
            </a:r>
          </a:p>
          <a:p>
            <a:pPr algn="l">
              <a:lnSpc>
                <a:spcPts val="3530"/>
              </a:lnSpc>
              <a:spcBef>
                <a:spcPct val="0"/>
              </a:spcBef>
            </a:pPr>
            <a:r>
              <a:rPr lang="en-US" sz="2521">
                <a:solidFill>
                  <a:srgbClr val="000000"/>
                </a:solidFill>
                <a:latin typeface="Poppins"/>
                <a:ea typeface="Poppins"/>
                <a:cs typeface="Poppins"/>
                <a:sym typeface="Poppins"/>
              </a:rPr>
              <a:t>The LSTM Autoencoder also performs sequence-level denoising, ensuring that the final latent representation is robust and informative. The bottleneck (latent space) forms the final temporal embedding for each sequence.</a:t>
            </a:r>
          </a:p>
        </p:txBody>
      </p:sp>
      <p:sp>
        <p:nvSpPr>
          <p:cNvPr name="TextBox 10" id="10"/>
          <p:cNvSpPr txBox="true"/>
          <p:nvPr/>
        </p:nvSpPr>
        <p:spPr>
          <a:xfrm rot="0">
            <a:off x="1028700" y="5393773"/>
            <a:ext cx="16230600" cy="3126823"/>
          </a:xfrm>
          <a:prstGeom prst="rect">
            <a:avLst/>
          </a:prstGeom>
        </p:spPr>
        <p:txBody>
          <a:bodyPr anchor="t" rtlCol="false" tIns="0" lIns="0" bIns="0" rIns="0">
            <a:spAutoFit/>
          </a:bodyPr>
          <a:lstStyle/>
          <a:p>
            <a:pPr algn="l">
              <a:lnSpc>
                <a:spcPts val="3530"/>
              </a:lnSpc>
              <a:spcBef>
                <a:spcPct val="0"/>
              </a:spcBef>
            </a:pPr>
            <a:r>
              <a:rPr lang="en-US" sz="2521">
                <a:solidFill>
                  <a:srgbClr val="000000"/>
                </a:solidFill>
                <a:latin typeface="Archivo Black"/>
                <a:ea typeface="Archivo Black"/>
                <a:cs typeface="Archivo Black"/>
                <a:sym typeface="Archivo Black"/>
              </a:rPr>
              <a:t>5.</a:t>
            </a:r>
            <a:r>
              <a:rPr lang="en-US" sz="2521">
                <a:solidFill>
                  <a:srgbClr val="000000"/>
                </a:solidFill>
                <a:latin typeface="Archivo Black"/>
                <a:ea typeface="Archivo Black"/>
                <a:cs typeface="Archivo Black"/>
                <a:sym typeface="Archivo Black"/>
              </a:rPr>
              <a:t> Featu</a:t>
            </a:r>
            <a:r>
              <a:rPr lang="en-US" sz="2521">
                <a:solidFill>
                  <a:srgbClr val="000000"/>
                </a:solidFill>
                <a:latin typeface="Archivo Black"/>
                <a:ea typeface="Archivo Black"/>
                <a:cs typeface="Archivo Black"/>
                <a:sym typeface="Archivo Black"/>
              </a:rPr>
              <a:t>r</a:t>
            </a:r>
            <a:r>
              <a:rPr lang="en-US" sz="2521">
                <a:solidFill>
                  <a:srgbClr val="000000"/>
                </a:solidFill>
                <a:latin typeface="Archivo Black"/>
                <a:ea typeface="Archivo Black"/>
                <a:cs typeface="Archivo Black"/>
                <a:sym typeface="Archivo Black"/>
              </a:rPr>
              <a:t>e Fusion</a:t>
            </a:r>
          </a:p>
          <a:p>
            <a:pPr algn="l">
              <a:lnSpc>
                <a:spcPts val="3530"/>
              </a:lnSpc>
              <a:spcBef>
                <a:spcPct val="0"/>
              </a:spcBef>
            </a:pPr>
            <a:r>
              <a:rPr lang="en-US" sz="2521">
                <a:solidFill>
                  <a:srgbClr val="000000"/>
                </a:solidFill>
                <a:latin typeface="Poppins"/>
                <a:ea typeface="Poppins"/>
                <a:cs typeface="Poppins"/>
                <a:sym typeface="Poppins"/>
              </a:rPr>
              <a:t>The CNN and LSTM encodings are combined to form the final feature representation for every timestep:</a:t>
            </a:r>
          </a:p>
          <a:p>
            <a:pPr algn="l">
              <a:lnSpc>
                <a:spcPts val="3530"/>
              </a:lnSpc>
              <a:spcBef>
                <a:spcPct val="0"/>
              </a:spcBef>
            </a:pPr>
            <a:r>
              <a:rPr lang="en-US" sz="2521">
                <a:solidFill>
                  <a:srgbClr val="000000"/>
                </a:solidFill>
                <a:latin typeface="Poppins"/>
                <a:ea typeface="Poppins"/>
                <a:cs typeface="Poppins"/>
                <a:sym typeface="Poppins"/>
              </a:rPr>
              <a:t>Zfinal​(t)=[Zcnn​(t) || Zlstm​(t)]</a:t>
            </a:r>
          </a:p>
          <a:p>
            <a:pPr algn="l">
              <a:lnSpc>
                <a:spcPts val="3530"/>
              </a:lnSpc>
              <a:spcBef>
                <a:spcPct val="0"/>
              </a:spcBef>
            </a:pPr>
            <a:r>
              <a:rPr lang="en-US" sz="2521">
                <a:solidFill>
                  <a:srgbClr val="000000"/>
                </a:solidFill>
                <a:latin typeface="Poppins"/>
                <a:ea typeface="Poppins"/>
                <a:cs typeface="Poppins"/>
                <a:sym typeface="Poppins"/>
              </a:rPr>
              <a:t>This fused vector captures:</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Spatial structure (from CNN)</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Temporal degradation dynamics (from LSTM)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9754130"/>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1139561"/>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1236059"/>
            <a:ext cx="16230600" cy="4917523"/>
          </a:xfrm>
          <a:prstGeom prst="rect">
            <a:avLst/>
          </a:prstGeom>
        </p:spPr>
        <p:txBody>
          <a:bodyPr anchor="t" rtlCol="false" tIns="0" lIns="0" bIns="0" rIns="0">
            <a:spAutoFit/>
          </a:bodyPr>
          <a:lstStyle/>
          <a:p>
            <a:pPr algn="l">
              <a:lnSpc>
                <a:spcPts val="3530"/>
              </a:lnSpc>
              <a:spcBef>
                <a:spcPct val="0"/>
              </a:spcBef>
            </a:pPr>
            <a:r>
              <a:rPr lang="en-US" sz="2521">
                <a:solidFill>
                  <a:srgbClr val="000000"/>
                </a:solidFill>
                <a:latin typeface="Archivo Black"/>
                <a:ea typeface="Archivo Black"/>
                <a:cs typeface="Archivo Black"/>
                <a:sym typeface="Archivo Black"/>
              </a:rPr>
              <a:t>6.</a:t>
            </a:r>
            <a:r>
              <a:rPr lang="en-US" sz="2521">
                <a:solidFill>
                  <a:srgbClr val="000000"/>
                </a:solidFill>
                <a:latin typeface="Archivo Black"/>
                <a:ea typeface="Archivo Black"/>
                <a:cs typeface="Archivo Black"/>
                <a:sym typeface="Archivo Black"/>
              </a:rPr>
              <a:t> RUL Calculat</a:t>
            </a:r>
            <a:r>
              <a:rPr lang="en-US" sz="2521">
                <a:solidFill>
                  <a:srgbClr val="000000"/>
                </a:solidFill>
                <a:latin typeface="Archivo Black"/>
                <a:ea typeface="Archivo Black"/>
                <a:cs typeface="Archivo Black"/>
                <a:sym typeface="Archivo Black"/>
              </a:rPr>
              <a:t>ion and Label Mapping</a:t>
            </a:r>
          </a:p>
          <a:p>
            <a:pPr algn="l">
              <a:lnSpc>
                <a:spcPts val="3530"/>
              </a:lnSpc>
              <a:spcBef>
                <a:spcPct val="0"/>
              </a:spcBef>
            </a:pPr>
            <a:r>
              <a:rPr lang="en-US" sz="2521">
                <a:solidFill>
                  <a:srgbClr val="000000"/>
                </a:solidFill>
                <a:latin typeface="Poppins"/>
                <a:ea typeface="Poppins"/>
                <a:cs typeface="Poppins"/>
                <a:sym typeface="Poppins"/>
              </a:rPr>
              <a:t>RUL is calculated using:</a:t>
            </a:r>
          </a:p>
          <a:p>
            <a:pPr algn="l">
              <a:lnSpc>
                <a:spcPts val="3530"/>
              </a:lnSpc>
              <a:spcBef>
                <a:spcPct val="0"/>
              </a:spcBef>
            </a:pPr>
            <a:r>
              <a:rPr lang="en-US" sz="2521">
                <a:solidFill>
                  <a:srgbClr val="000000"/>
                </a:solidFill>
                <a:latin typeface="Poppins"/>
                <a:ea typeface="Poppins"/>
                <a:cs typeface="Poppins"/>
                <a:sym typeface="Poppins"/>
              </a:rPr>
              <a:t>Where:</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t = current cycle</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T-failure​ = last cycle of that engine</a:t>
            </a:r>
          </a:p>
          <a:p>
            <a:pPr algn="l">
              <a:lnSpc>
                <a:spcPts val="3530"/>
              </a:lnSpc>
              <a:spcBef>
                <a:spcPct val="0"/>
              </a:spcBef>
            </a:pPr>
            <a:r>
              <a:rPr lang="en-US" sz="2521">
                <a:solidFill>
                  <a:srgbClr val="000000"/>
                </a:solidFill>
                <a:latin typeface="Poppins"/>
                <a:ea typeface="Poppins"/>
                <a:cs typeface="Poppins"/>
                <a:sym typeface="Poppins"/>
              </a:rPr>
              <a:t>Once RUL values are computed, each row of the fused encoding dataframe is mapped to its corresponding RUL value.</a:t>
            </a:r>
          </a:p>
          <a:p>
            <a:pPr algn="l">
              <a:lnSpc>
                <a:spcPts val="3530"/>
              </a:lnSpc>
              <a:spcBef>
                <a:spcPct val="0"/>
              </a:spcBef>
            </a:pPr>
            <a:r>
              <a:rPr lang="en-US" sz="2521">
                <a:solidFill>
                  <a:srgbClr val="000000"/>
                </a:solidFill>
                <a:latin typeface="Poppins"/>
                <a:ea typeface="Poppins"/>
                <a:cs typeface="Poppins"/>
                <a:sym typeface="Poppins"/>
              </a:rPr>
              <a:t> Thus, the final training dataset consists of:</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CNN latent features</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LSTM latent features</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Ground-truth RUL label</a:t>
            </a:r>
          </a:p>
        </p:txBody>
      </p:sp>
      <p:sp>
        <p:nvSpPr>
          <p:cNvPr name="TextBox 10" id="10"/>
          <p:cNvSpPr txBox="true"/>
          <p:nvPr/>
        </p:nvSpPr>
        <p:spPr>
          <a:xfrm rot="0">
            <a:off x="1028700" y="6810807"/>
            <a:ext cx="16230600" cy="2231473"/>
          </a:xfrm>
          <a:prstGeom prst="rect">
            <a:avLst/>
          </a:prstGeom>
        </p:spPr>
        <p:txBody>
          <a:bodyPr anchor="t" rtlCol="false" tIns="0" lIns="0" bIns="0" rIns="0">
            <a:spAutoFit/>
          </a:bodyPr>
          <a:lstStyle/>
          <a:p>
            <a:pPr algn="l">
              <a:lnSpc>
                <a:spcPts val="3530"/>
              </a:lnSpc>
              <a:spcBef>
                <a:spcPct val="0"/>
              </a:spcBef>
            </a:pPr>
            <a:r>
              <a:rPr lang="en-US" sz="2521">
                <a:solidFill>
                  <a:srgbClr val="000000"/>
                </a:solidFill>
                <a:latin typeface="Archivo Black"/>
                <a:ea typeface="Archivo Black"/>
                <a:cs typeface="Archivo Black"/>
                <a:sym typeface="Archivo Black"/>
              </a:rPr>
              <a:t>7.</a:t>
            </a:r>
            <a:r>
              <a:rPr lang="en-US" sz="2521">
                <a:solidFill>
                  <a:srgbClr val="000000"/>
                </a:solidFill>
                <a:latin typeface="Archivo Black"/>
                <a:ea typeface="Archivo Black"/>
                <a:cs typeface="Archivo Black"/>
                <a:sym typeface="Archivo Black"/>
              </a:rPr>
              <a:t> Final Regress</a:t>
            </a:r>
            <a:r>
              <a:rPr lang="en-US" sz="2521">
                <a:solidFill>
                  <a:srgbClr val="000000"/>
                </a:solidFill>
                <a:latin typeface="Archivo Black"/>
                <a:ea typeface="Archivo Black"/>
                <a:cs typeface="Archivo Black"/>
                <a:sym typeface="Archivo Black"/>
              </a:rPr>
              <a:t>ion Model for RUL Prediction</a:t>
            </a:r>
          </a:p>
          <a:p>
            <a:pPr algn="l">
              <a:lnSpc>
                <a:spcPts val="3530"/>
              </a:lnSpc>
              <a:spcBef>
                <a:spcPct val="0"/>
              </a:spcBef>
            </a:pPr>
            <a:r>
              <a:rPr lang="en-US" sz="2521">
                <a:solidFill>
                  <a:srgbClr val="000000"/>
                </a:solidFill>
                <a:latin typeface="Poppins"/>
                <a:ea typeface="Poppins"/>
                <a:cs typeface="Poppins"/>
                <a:sym typeface="Poppins"/>
              </a:rPr>
              <a:t>The fused feature vector serves as input to a regression model (MLP, XGBoost, or similar), which performs the final mapping from deep features to numerical RUL predictions.</a:t>
            </a:r>
          </a:p>
          <a:p>
            <a:pPr algn="l">
              <a:lnSpc>
                <a:spcPts val="3530"/>
              </a:lnSpc>
              <a:spcBef>
                <a:spcPct val="0"/>
              </a:spcBef>
            </a:pPr>
            <a:r>
              <a:rPr lang="en-US" sz="2521">
                <a:solidFill>
                  <a:srgbClr val="000000"/>
                </a:solidFill>
                <a:latin typeface="Poppins"/>
                <a:ea typeface="Poppins"/>
                <a:cs typeface="Poppins"/>
                <a:sym typeface="Poppins"/>
              </a:rPr>
              <a:t>Unlike end-to-end models, this approach trains the regressor on highly refined, denoised, and compressed representations, improving accuracy and stability.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9754130"/>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1139561"/>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609891" y="1245444"/>
            <a:ext cx="16230600" cy="2679148"/>
          </a:xfrm>
          <a:prstGeom prst="rect">
            <a:avLst/>
          </a:prstGeom>
        </p:spPr>
        <p:txBody>
          <a:bodyPr anchor="t" rtlCol="false" tIns="0" lIns="0" bIns="0" rIns="0">
            <a:spAutoFit/>
          </a:bodyPr>
          <a:lstStyle/>
          <a:p>
            <a:pPr algn="l">
              <a:lnSpc>
                <a:spcPts val="3530"/>
              </a:lnSpc>
              <a:spcBef>
                <a:spcPct val="0"/>
              </a:spcBef>
            </a:pPr>
            <a:r>
              <a:rPr lang="en-US" sz="2521">
                <a:solidFill>
                  <a:srgbClr val="000000"/>
                </a:solidFill>
                <a:latin typeface="Archivo Black"/>
                <a:ea typeface="Archivo Black"/>
                <a:cs typeface="Archivo Black"/>
                <a:sym typeface="Archivo Black"/>
              </a:rPr>
              <a:t>8.</a:t>
            </a:r>
            <a:r>
              <a:rPr lang="en-US" sz="2521">
                <a:solidFill>
                  <a:srgbClr val="000000"/>
                </a:solidFill>
                <a:latin typeface="Archivo Black"/>
                <a:ea typeface="Archivo Black"/>
                <a:cs typeface="Archivo Black"/>
                <a:sym typeface="Archivo Black"/>
              </a:rPr>
              <a:t> Key Advantages</a:t>
            </a:r>
            <a:r>
              <a:rPr lang="en-US" sz="2521">
                <a:solidFill>
                  <a:srgbClr val="000000"/>
                </a:solidFill>
                <a:latin typeface="Archivo Black"/>
                <a:ea typeface="Archivo Black"/>
                <a:cs typeface="Archivo Black"/>
                <a:sym typeface="Archivo Black"/>
              </a:rPr>
              <a:t> of the Proposed Architecture</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Linear detrending removes predictable wear, emphasizing critical non-linear degradation.</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CNN Autoencoder removes local noise and extracts compact spatial features.</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LSTM Autoencoder captures long-term dependencies and performs sequence-level denoising.</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Feature fusion creates a comprehensive representation of engine health.</a:t>
            </a:r>
          </a:p>
          <a:p>
            <a:pPr algn="l" marL="544445" indent="-272223" lvl="1">
              <a:lnSpc>
                <a:spcPts val="3530"/>
              </a:lnSpc>
              <a:spcBef>
                <a:spcPct val="0"/>
              </a:spcBef>
              <a:buFont typeface="Arial"/>
              <a:buChar char="•"/>
            </a:pPr>
            <a:r>
              <a:rPr lang="en-US" sz="2521">
                <a:solidFill>
                  <a:srgbClr val="000000"/>
                </a:solidFill>
                <a:latin typeface="Poppins"/>
                <a:ea typeface="Poppins"/>
                <a:cs typeface="Poppins"/>
                <a:sym typeface="Poppins"/>
              </a:rPr>
              <a:t>Hybrid design provides interpretability and robustness against noise.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376933" y="806450"/>
            <a:ext cx="15534134" cy="8674100"/>
            <a:chOff x="0" y="0"/>
            <a:chExt cx="4091295" cy="2284537"/>
          </a:xfrm>
        </p:grpSpPr>
        <p:sp>
          <p:nvSpPr>
            <p:cNvPr name="Freeform 4" id="4"/>
            <p:cNvSpPr/>
            <p:nvPr/>
          </p:nvSpPr>
          <p:spPr>
            <a:xfrm flipH="false" flipV="false" rot="0">
              <a:off x="0" y="0"/>
              <a:ext cx="4091294" cy="2284537"/>
            </a:xfrm>
            <a:custGeom>
              <a:avLst/>
              <a:gdLst/>
              <a:ahLst/>
              <a:cxnLst/>
              <a:rect r="r" b="b" t="t" l="l"/>
              <a:pathLst>
                <a:path h="2284537" w="4091294">
                  <a:moveTo>
                    <a:pt x="25417" y="0"/>
                  </a:moveTo>
                  <a:lnTo>
                    <a:pt x="4065877" y="0"/>
                  </a:lnTo>
                  <a:cubicBezTo>
                    <a:pt x="4072618" y="0"/>
                    <a:pt x="4079083" y="2678"/>
                    <a:pt x="4083850" y="7445"/>
                  </a:cubicBezTo>
                  <a:cubicBezTo>
                    <a:pt x="4088617" y="12211"/>
                    <a:pt x="4091294" y="18676"/>
                    <a:pt x="4091294" y="25417"/>
                  </a:cubicBezTo>
                  <a:lnTo>
                    <a:pt x="4091294" y="2259119"/>
                  </a:lnTo>
                  <a:cubicBezTo>
                    <a:pt x="4091294" y="2265860"/>
                    <a:pt x="4088617" y="2272325"/>
                    <a:pt x="4083850" y="2277092"/>
                  </a:cubicBezTo>
                  <a:cubicBezTo>
                    <a:pt x="4079083" y="2281859"/>
                    <a:pt x="4072618" y="2284537"/>
                    <a:pt x="4065877" y="2284537"/>
                  </a:cubicBezTo>
                  <a:lnTo>
                    <a:pt x="25417" y="2284537"/>
                  </a:lnTo>
                  <a:cubicBezTo>
                    <a:pt x="18676" y="2284537"/>
                    <a:pt x="12211" y="2281859"/>
                    <a:pt x="7445" y="2277092"/>
                  </a:cubicBezTo>
                  <a:cubicBezTo>
                    <a:pt x="2678" y="2272325"/>
                    <a:pt x="0" y="2265860"/>
                    <a:pt x="0" y="2259119"/>
                  </a:cubicBezTo>
                  <a:lnTo>
                    <a:pt x="0" y="25417"/>
                  </a:lnTo>
                  <a:cubicBezTo>
                    <a:pt x="0" y="18676"/>
                    <a:pt x="2678" y="12211"/>
                    <a:pt x="7445" y="7445"/>
                  </a:cubicBezTo>
                  <a:cubicBezTo>
                    <a:pt x="12211" y="2678"/>
                    <a:pt x="18676" y="0"/>
                    <a:pt x="25417" y="0"/>
                  </a:cubicBezTo>
                  <a:close/>
                </a:path>
              </a:pathLst>
            </a:custGeom>
            <a:solidFill>
              <a:srgbClr val="004AAD"/>
            </a:solidFill>
          </p:spPr>
        </p:sp>
        <p:sp>
          <p:nvSpPr>
            <p:cNvPr name="TextBox 5" id="5"/>
            <p:cNvSpPr txBox="true"/>
            <p:nvPr/>
          </p:nvSpPr>
          <p:spPr>
            <a:xfrm>
              <a:off x="0" y="-47625"/>
              <a:ext cx="4091295" cy="233216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281554" y="1557872"/>
            <a:ext cx="13724892" cy="7171256"/>
          </a:xfrm>
          <a:custGeom>
            <a:avLst/>
            <a:gdLst/>
            <a:ahLst/>
            <a:cxnLst/>
            <a:rect r="r" b="b" t="t" l="l"/>
            <a:pathLst>
              <a:path h="7171256" w="13724892">
                <a:moveTo>
                  <a:pt x="0" y="0"/>
                </a:moveTo>
                <a:lnTo>
                  <a:pt x="13724892" y="0"/>
                </a:lnTo>
                <a:lnTo>
                  <a:pt x="13724892" y="7171256"/>
                </a:lnTo>
                <a:lnTo>
                  <a:pt x="0" y="7171256"/>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9754130"/>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aphicFrame>
        <p:nvGraphicFramePr>
          <p:cNvPr name="Object 9" id="9"/>
          <p:cNvGraphicFramePr/>
          <p:nvPr/>
        </p:nvGraphicFramePr>
        <p:xfrm>
          <a:off x="1028700" y="1462339"/>
          <a:ext cx="7543800" cy="1885950"/>
        </p:xfrm>
        <a:graphic>
          <a:graphicData uri="http://schemas.openxmlformats.org/presentationml/2006/ole">
            <p:oleObj imgW="9042400" imgH="3390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10" id="10"/>
          <p:cNvGraphicFramePr/>
          <p:nvPr/>
        </p:nvGraphicFramePr>
        <p:xfrm>
          <a:off x="8100564" y="1462339"/>
          <a:ext cx="8629650" cy="5400675"/>
        </p:xfrm>
        <a:graphic>
          <a:graphicData uri="http://schemas.openxmlformats.org/presentationml/2006/ole">
            <p:oleObj imgW="10350500" imgH="71247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1" id="11"/>
          <p:cNvSpPr txBox="true"/>
          <p:nvPr/>
        </p:nvSpPr>
        <p:spPr>
          <a:xfrm rot="0">
            <a:off x="5638969" y="363245"/>
            <a:ext cx="7651354"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RESULTS AND DISSCUSSION</a:t>
            </a:r>
          </a:p>
        </p:txBody>
      </p:sp>
      <p:sp>
        <p:nvSpPr>
          <p:cNvPr name="TextBox 12" id="12"/>
          <p:cNvSpPr txBox="true"/>
          <p:nvPr/>
        </p:nvSpPr>
        <p:spPr>
          <a:xfrm rot="0">
            <a:off x="1028700" y="4422832"/>
            <a:ext cx="6684955"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Performance of the Proposed Hybrid Model</a:t>
            </a:r>
          </a:p>
        </p:txBody>
      </p:sp>
      <p:sp>
        <p:nvSpPr>
          <p:cNvPr name="TextBox 13" id="13"/>
          <p:cNvSpPr txBox="true"/>
          <p:nvPr/>
        </p:nvSpPr>
        <p:spPr>
          <a:xfrm rot="0">
            <a:off x="8100564" y="9106360"/>
            <a:ext cx="9694974"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Comparing RMSE results from these models</a:t>
            </a:r>
          </a:p>
        </p:txBody>
      </p:sp>
      <p:sp>
        <p:nvSpPr>
          <p:cNvPr name="TextBox 14" id="14"/>
          <p:cNvSpPr txBox="true"/>
          <p:nvPr/>
        </p:nvSpPr>
        <p:spPr>
          <a:xfrm rot="0">
            <a:off x="1028700" y="5175335"/>
            <a:ext cx="6684955" cy="3910579"/>
          </a:xfrm>
          <a:prstGeom prst="rect">
            <a:avLst/>
          </a:prstGeom>
        </p:spPr>
        <p:txBody>
          <a:bodyPr anchor="t" rtlCol="false" tIns="0" lIns="0" bIns="0" rIns="0">
            <a:spAutoFit/>
          </a:bodyPr>
          <a:lstStyle/>
          <a:p>
            <a:pPr algn="l">
              <a:lnSpc>
                <a:spcPts val="2652"/>
              </a:lnSpc>
              <a:spcBef>
                <a:spcPct val="0"/>
              </a:spcBef>
            </a:pPr>
            <a:r>
              <a:rPr lang="en-US" sz="1894">
                <a:solidFill>
                  <a:srgbClr val="000000"/>
                </a:solidFill>
                <a:latin typeface="Archivo Black"/>
                <a:ea typeface="Archivo Black"/>
                <a:cs typeface="Archivo Black"/>
                <a:sym typeface="Archivo Black"/>
              </a:rPr>
              <a:t>Model Behaviour (Short Version)</a:t>
            </a:r>
          </a:p>
          <a:p>
            <a:pPr algn="l" marL="409066" indent="-204533" lvl="1">
              <a:lnSpc>
                <a:spcPts val="2652"/>
              </a:lnSpc>
              <a:spcBef>
                <a:spcPct val="0"/>
              </a:spcBef>
              <a:buFont typeface="Arial"/>
              <a:buChar char="•"/>
            </a:pPr>
            <a:r>
              <a:rPr lang="en-US" sz="1894">
                <a:solidFill>
                  <a:srgbClr val="000000"/>
                </a:solidFill>
                <a:latin typeface="Poppins"/>
                <a:ea typeface="Poppins"/>
                <a:cs typeface="Poppins"/>
                <a:sym typeface="Poppins"/>
              </a:rPr>
              <a:t>Linear Detrending: Removes global wear trend and isolates true nonlinear degradation.</a:t>
            </a:r>
          </a:p>
          <a:p>
            <a:pPr algn="l" marL="409066" indent="-204533" lvl="1">
              <a:lnSpc>
                <a:spcPts val="2652"/>
              </a:lnSpc>
              <a:spcBef>
                <a:spcPct val="0"/>
              </a:spcBef>
              <a:buFont typeface="Arial"/>
              <a:buChar char="•"/>
            </a:pPr>
            <a:r>
              <a:rPr lang="en-US" sz="1894">
                <a:solidFill>
                  <a:srgbClr val="000000"/>
                </a:solidFill>
                <a:latin typeface="Poppins"/>
                <a:ea typeface="Poppins"/>
                <a:cs typeface="Poppins"/>
                <a:sym typeface="Poppins"/>
              </a:rPr>
              <a:t>CNN Autoencoder: Denoises residual signals and extracts spatial feature patterns.</a:t>
            </a:r>
          </a:p>
          <a:p>
            <a:pPr algn="l" marL="409066" indent="-204533" lvl="1">
              <a:lnSpc>
                <a:spcPts val="2652"/>
              </a:lnSpc>
              <a:spcBef>
                <a:spcPct val="0"/>
              </a:spcBef>
              <a:buFont typeface="Arial"/>
              <a:buChar char="•"/>
            </a:pPr>
            <a:r>
              <a:rPr lang="en-US" sz="1894">
                <a:solidFill>
                  <a:srgbClr val="000000"/>
                </a:solidFill>
                <a:latin typeface="Poppins"/>
                <a:ea typeface="Poppins"/>
                <a:cs typeface="Poppins"/>
                <a:sym typeface="Poppins"/>
              </a:rPr>
              <a:t>LSTM Autoencoder: Learns long-term temporal degradation dynamics.</a:t>
            </a:r>
          </a:p>
          <a:p>
            <a:pPr algn="l" marL="409066" indent="-204533" lvl="1">
              <a:lnSpc>
                <a:spcPts val="2652"/>
              </a:lnSpc>
              <a:spcBef>
                <a:spcPct val="0"/>
              </a:spcBef>
              <a:buFont typeface="Arial"/>
              <a:buChar char="•"/>
            </a:pPr>
            <a:r>
              <a:rPr lang="en-US" sz="1894">
                <a:solidFill>
                  <a:srgbClr val="000000"/>
                </a:solidFill>
                <a:latin typeface="Poppins"/>
                <a:ea typeface="Poppins"/>
                <a:cs typeface="Poppins"/>
                <a:sym typeface="Poppins"/>
              </a:rPr>
              <a:t>Feature Fusion: Combines CNN + LSTM latent features for a complete health representation.</a:t>
            </a:r>
          </a:p>
          <a:p>
            <a:pPr algn="l" marL="409066" indent="-204533" lvl="1">
              <a:lnSpc>
                <a:spcPts val="2652"/>
              </a:lnSpc>
              <a:spcBef>
                <a:spcPct val="0"/>
              </a:spcBef>
              <a:buFont typeface="Arial"/>
              <a:buChar char="•"/>
            </a:pPr>
            <a:r>
              <a:rPr lang="en-US" sz="1894">
                <a:solidFill>
                  <a:srgbClr val="000000"/>
                </a:solidFill>
                <a:latin typeface="Poppins"/>
                <a:ea typeface="Poppins"/>
                <a:cs typeface="Poppins"/>
                <a:sym typeface="Poppins"/>
              </a:rPr>
              <a:t>RUL Regressor: Maps fused features to stable, accurate RUL predictions.</a:t>
            </a:r>
          </a:p>
          <a:p>
            <a:pPr algn="l">
              <a:lnSpc>
                <a:spcPts val="2357"/>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9754130"/>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2581095"/>
            <a:ext cx="7762556" cy="5778791"/>
          </a:xfrm>
          <a:custGeom>
            <a:avLst/>
            <a:gdLst/>
            <a:ahLst/>
            <a:cxnLst/>
            <a:rect r="r" b="b" t="t" l="l"/>
            <a:pathLst>
              <a:path h="5778791" w="7762556">
                <a:moveTo>
                  <a:pt x="0" y="0"/>
                </a:moveTo>
                <a:lnTo>
                  <a:pt x="7762556" y="0"/>
                </a:lnTo>
                <a:lnTo>
                  <a:pt x="7762556" y="5778791"/>
                </a:lnTo>
                <a:lnTo>
                  <a:pt x="0" y="5778791"/>
                </a:lnTo>
                <a:lnTo>
                  <a:pt x="0" y="0"/>
                </a:lnTo>
                <a:close/>
              </a:path>
            </a:pathLst>
          </a:custGeom>
          <a:blipFill>
            <a:blip r:embed="rId3"/>
            <a:stretch>
              <a:fillRect l="0" t="0" r="0" b="0"/>
            </a:stretch>
          </a:blipFill>
        </p:spPr>
      </p:sp>
      <p:sp>
        <p:nvSpPr>
          <p:cNvPr name="Freeform 10" id="10"/>
          <p:cNvSpPr/>
          <p:nvPr/>
        </p:nvSpPr>
        <p:spPr>
          <a:xfrm flipH="false" flipV="false" rot="0">
            <a:off x="10051401" y="2152083"/>
            <a:ext cx="7207899" cy="6207803"/>
          </a:xfrm>
          <a:custGeom>
            <a:avLst/>
            <a:gdLst/>
            <a:ahLst/>
            <a:cxnLst/>
            <a:rect r="r" b="b" t="t" l="l"/>
            <a:pathLst>
              <a:path h="6207803" w="7207899">
                <a:moveTo>
                  <a:pt x="0" y="0"/>
                </a:moveTo>
                <a:lnTo>
                  <a:pt x="7207899" y="0"/>
                </a:lnTo>
                <a:lnTo>
                  <a:pt x="7207899" y="6207803"/>
                </a:lnTo>
                <a:lnTo>
                  <a:pt x="0" y="6207803"/>
                </a:lnTo>
                <a:lnTo>
                  <a:pt x="0" y="0"/>
                </a:lnTo>
                <a:close/>
              </a:path>
            </a:pathLst>
          </a:custGeom>
          <a:blipFill>
            <a:blip r:embed="rId4"/>
            <a:stretch>
              <a:fillRect l="0" t="0" r="0" b="0"/>
            </a:stretch>
          </a:blipFill>
        </p:spPr>
      </p:sp>
      <p:sp>
        <p:nvSpPr>
          <p:cNvPr name="TextBox 11" id="11"/>
          <p:cNvSpPr txBox="true"/>
          <p:nvPr/>
        </p:nvSpPr>
        <p:spPr>
          <a:xfrm rot="0">
            <a:off x="1121728" y="8516309"/>
            <a:ext cx="7576500"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Distribution of Maximum Time cycles per engine</a:t>
            </a:r>
          </a:p>
        </p:txBody>
      </p:sp>
      <p:sp>
        <p:nvSpPr>
          <p:cNvPr name="TextBox 12" id="12"/>
          <p:cNvSpPr txBox="true"/>
          <p:nvPr/>
        </p:nvSpPr>
        <p:spPr>
          <a:xfrm rot="0">
            <a:off x="9797066" y="8396048"/>
            <a:ext cx="7462234" cy="862252"/>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Correlation Heatmap of Sensor Features and Settings</a:t>
            </a:r>
          </a:p>
        </p:txBody>
      </p:sp>
      <p:sp>
        <p:nvSpPr>
          <p:cNvPr name="TextBox 13" id="13"/>
          <p:cNvSpPr txBox="true"/>
          <p:nvPr/>
        </p:nvSpPr>
        <p:spPr>
          <a:xfrm rot="0">
            <a:off x="5638969" y="363245"/>
            <a:ext cx="7651354" cy="770217"/>
          </a:xfrm>
          <a:prstGeom prst="rect">
            <a:avLst/>
          </a:prstGeom>
        </p:spPr>
        <p:txBody>
          <a:bodyPr anchor="t" rtlCol="false" tIns="0" lIns="0" bIns="0" rIns="0">
            <a:spAutoFit/>
          </a:bodyPr>
          <a:lstStyle/>
          <a:p>
            <a:pPr algn="ctr">
              <a:lnSpc>
                <a:spcPts val="6372"/>
              </a:lnSpc>
            </a:pPr>
            <a:r>
              <a:rPr lang="en-US" sz="4551">
                <a:solidFill>
                  <a:srgbClr val="FFFFFF"/>
                </a:solidFill>
                <a:latin typeface="Roboto"/>
                <a:ea typeface="Roboto"/>
                <a:cs typeface="Roboto"/>
                <a:sym typeface="Roboto"/>
              </a:rPr>
              <a:t>VISUALIZATIONS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9754130"/>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2415066"/>
            <a:ext cx="7971479" cy="5902756"/>
          </a:xfrm>
          <a:custGeom>
            <a:avLst/>
            <a:gdLst/>
            <a:ahLst/>
            <a:cxnLst/>
            <a:rect r="r" b="b" t="t" l="l"/>
            <a:pathLst>
              <a:path h="5902756" w="7971479">
                <a:moveTo>
                  <a:pt x="0" y="0"/>
                </a:moveTo>
                <a:lnTo>
                  <a:pt x="7971479" y="0"/>
                </a:lnTo>
                <a:lnTo>
                  <a:pt x="7971479" y="5902756"/>
                </a:lnTo>
                <a:lnTo>
                  <a:pt x="0" y="5902756"/>
                </a:lnTo>
                <a:lnTo>
                  <a:pt x="0" y="0"/>
                </a:lnTo>
                <a:close/>
              </a:path>
            </a:pathLst>
          </a:custGeom>
          <a:blipFill>
            <a:blip r:embed="rId3"/>
            <a:stretch>
              <a:fillRect l="0" t="0" r="0" b="0"/>
            </a:stretch>
          </a:blipFill>
        </p:spPr>
      </p:sp>
      <p:sp>
        <p:nvSpPr>
          <p:cNvPr name="Freeform 10" id="10"/>
          <p:cNvSpPr/>
          <p:nvPr/>
        </p:nvSpPr>
        <p:spPr>
          <a:xfrm flipH="false" flipV="false" rot="0">
            <a:off x="9464646" y="2415066"/>
            <a:ext cx="7849555" cy="5867542"/>
          </a:xfrm>
          <a:custGeom>
            <a:avLst/>
            <a:gdLst/>
            <a:ahLst/>
            <a:cxnLst/>
            <a:rect r="r" b="b" t="t" l="l"/>
            <a:pathLst>
              <a:path h="5867542" w="7849555">
                <a:moveTo>
                  <a:pt x="0" y="0"/>
                </a:moveTo>
                <a:lnTo>
                  <a:pt x="7849555" y="0"/>
                </a:lnTo>
                <a:lnTo>
                  <a:pt x="7849555" y="5867543"/>
                </a:lnTo>
                <a:lnTo>
                  <a:pt x="0" y="5867543"/>
                </a:lnTo>
                <a:lnTo>
                  <a:pt x="0" y="0"/>
                </a:lnTo>
                <a:close/>
              </a:path>
            </a:pathLst>
          </a:custGeom>
          <a:blipFill>
            <a:blip r:embed="rId4"/>
            <a:stretch>
              <a:fillRect l="0" t="0" r="0" b="0"/>
            </a:stretch>
          </a:blipFill>
        </p:spPr>
      </p:sp>
      <p:sp>
        <p:nvSpPr>
          <p:cNvPr name="TextBox 11" id="11"/>
          <p:cNvSpPr txBox="true"/>
          <p:nvPr/>
        </p:nvSpPr>
        <p:spPr>
          <a:xfrm rot="0">
            <a:off x="1226189" y="8516309"/>
            <a:ext cx="7576500"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Prediction RUL and TRUE RUL (Train)</a:t>
            </a:r>
          </a:p>
        </p:txBody>
      </p:sp>
      <p:sp>
        <p:nvSpPr>
          <p:cNvPr name="TextBox 12" id="12"/>
          <p:cNvSpPr txBox="true"/>
          <p:nvPr/>
        </p:nvSpPr>
        <p:spPr>
          <a:xfrm rot="0">
            <a:off x="9439096" y="8516309"/>
            <a:ext cx="7702454"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Prediction RUL and TRUE RUL (Validation)</a:t>
            </a:r>
          </a:p>
        </p:txBody>
      </p:sp>
      <p:sp>
        <p:nvSpPr>
          <p:cNvPr name="TextBox 13" id="13"/>
          <p:cNvSpPr txBox="true"/>
          <p:nvPr/>
        </p:nvSpPr>
        <p:spPr>
          <a:xfrm rot="0">
            <a:off x="5638969" y="363245"/>
            <a:ext cx="7651354" cy="770217"/>
          </a:xfrm>
          <a:prstGeom prst="rect">
            <a:avLst/>
          </a:prstGeom>
        </p:spPr>
        <p:txBody>
          <a:bodyPr anchor="t" rtlCol="false" tIns="0" lIns="0" bIns="0" rIns="0">
            <a:spAutoFit/>
          </a:bodyPr>
          <a:lstStyle/>
          <a:p>
            <a:pPr algn="ctr">
              <a:lnSpc>
                <a:spcPts val="6372"/>
              </a:lnSpc>
            </a:pPr>
            <a:r>
              <a:rPr lang="en-US" sz="4551">
                <a:solidFill>
                  <a:srgbClr val="FFFFFF"/>
                </a:solidFill>
                <a:latin typeface="Roboto"/>
                <a:ea typeface="Roboto"/>
                <a:cs typeface="Roboto"/>
                <a:sym typeface="Roboto"/>
              </a:rPr>
              <a:t>VISUALIZATIONS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9754130"/>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191313" y="2144562"/>
            <a:ext cx="7827571" cy="5997876"/>
          </a:xfrm>
          <a:custGeom>
            <a:avLst/>
            <a:gdLst/>
            <a:ahLst/>
            <a:cxnLst/>
            <a:rect r="r" b="b" t="t" l="l"/>
            <a:pathLst>
              <a:path h="5997876" w="7827571">
                <a:moveTo>
                  <a:pt x="0" y="0"/>
                </a:moveTo>
                <a:lnTo>
                  <a:pt x="7827570" y="0"/>
                </a:lnTo>
                <a:lnTo>
                  <a:pt x="7827570" y="5997876"/>
                </a:lnTo>
                <a:lnTo>
                  <a:pt x="0" y="5997876"/>
                </a:lnTo>
                <a:lnTo>
                  <a:pt x="0" y="0"/>
                </a:lnTo>
                <a:close/>
              </a:path>
            </a:pathLst>
          </a:custGeom>
          <a:blipFill>
            <a:blip r:embed="rId3"/>
            <a:stretch>
              <a:fillRect l="0" t="0" r="0" b="0"/>
            </a:stretch>
          </a:blipFill>
        </p:spPr>
      </p:sp>
      <p:sp>
        <p:nvSpPr>
          <p:cNvPr name="Freeform 10" id="10"/>
          <p:cNvSpPr/>
          <p:nvPr/>
        </p:nvSpPr>
        <p:spPr>
          <a:xfrm flipH="false" flipV="false" rot="0">
            <a:off x="9959683" y="2197157"/>
            <a:ext cx="7981412" cy="5945281"/>
          </a:xfrm>
          <a:custGeom>
            <a:avLst/>
            <a:gdLst/>
            <a:ahLst/>
            <a:cxnLst/>
            <a:rect r="r" b="b" t="t" l="l"/>
            <a:pathLst>
              <a:path h="5945281" w="7981412">
                <a:moveTo>
                  <a:pt x="0" y="0"/>
                </a:moveTo>
                <a:lnTo>
                  <a:pt x="7981413" y="0"/>
                </a:lnTo>
                <a:lnTo>
                  <a:pt x="7981413" y="5945281"/>
                </a:lnTo>
                <a:lnTo>
                  <a:pt x="0" y="5945281"/>
                </a:lnTo>
                <a:lnTo>
                  <a:pt x="0" y="0"/>
                </a:lnTo>
                <a:close/>
              </a:path>
            </a:pathLst>
          </a:custGeom>
          <a:blipFill>
            <a:blip r:embed="rId4"/>
            <a:stretch>
              <a:fillRect l="-1345" t="0" r="0" b="0"/>
            </a:stretch>
          </a:blipFill>
        </p:spPr>
      </p:sp>
      <p:sp>
        <p:nvSpPr>
          <p:cNvPr name="TextBox 11" id="11"/>
          <p:cNvSpPr txBox="true"/>
          <p:nvPr/>
        </p:nvSpPr>
        <p:spPr>
          <a:xfrm rot="0">
            <a:off x="1191313" y="8516309"/>
            <a:ext cx="7702454"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Prediction RUL and TRUE RUL (Validation)</a:t>
            </a:r>
          </a:p>
        </p:txBody>
      </p:sp>
      <p:sp>
        <p:nvSpPr>
          <p:cNvPr name="TextBox 12" id="12"/>
          <p:cNvSpPr txBox="true"/>
          <p:nvPr/>
        </p:nvSpPr>
        <p:spPr>
          <a:xfrm rot="0">
            <a:off x="5638969" y="363245"/>
            <a:ext cx="7651354" cy="770217"/>
          </a:xfrm>
          <a:prstGeom prst="rect">
            <a:avLst/>
          </a:prstGeom>
        </p:spPr>
        <p:txBody>
          <a:bodyPr anchor="t" rtlCol="false" tIns="0" lIns="0" bIns="0" rIns="0">
            <a:spAutoFit/>
          </a:bodyPr>
          <a:lstStyle/>
          <a:p>
            <a:pPr algn="ctr">
              <a:lnSpc>
                <a:spcPts val="6372"/>
              </a:lnSpc>
            </a:pPr>
            <a:r>
              <a:rPr lang="en-US" sz="4551">
                <a:solidFill>
                  <a:srgbClr val="FFFFFF"/>
                </a:solidFill>
                <a:latin typeface="Roboto"/>
                <a:ea typeface="Roboto"/>
                <a:cs typeface="Roboto"/>
                <a:sym typeface="Roboto"/>
              </a:rPr>
              <a:t>VISUALIZATIONS</a:t>
            </a:r>
          </a:p>
        </p:txBody>
      </p:sp>
      <p:sp>
        <p:nvSpPr>
          <p:cNvPr name="TextBox 13" id="13"/>
          <p:cNvSpPr txBox="true"/>
          <p:nvPr/>
        </p:nvSpPr>
        <p:spPr>
          <a:xfrm rot="0">
            <a:off x="9556846" y="8448081"/>
            <a:ext cx="7702454"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Cal of RMSE on Train , Val , Test data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9754130"/>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2599731"/>
            <a:ext cx="8176834" cy="5928205"/>
          </a:xfrm>
          <a:custGeom>
            <a:avLst/>
            <a:gdLst/>
            <a:ahLst/>
            <a:cxnLst/>
            <a:rect r="r" b="b" t="t" l="l"/>
            <a:pathLst>
              <a:path h="5928205" w="8176834">
                <a:moveTo>
                  <a:pt x="0" y="0"/>
                </a:moveTo>
                <a:lnTo>
                  <a:pt x="8176834" y="0"/>
                </a:lnTo>
                <a:lnTo>
                  <a:pt x="8176834" y="5928205"/>
                </a:lnTo>
                <a:lnTo>
                  <a:pt x="0" y="5928205"/>
                </a:lnTo>
                <a:lnTo>
                  <a:pt x="0" y="0"/>
                </a:lnTo>
                <a:close/>
              </a:path>
            </a:pathLst>
          </a:custGeom>
          <a:blipFill>
            <a:blip r:embed="rId3"/>
            <a:stretch>
              <a:fillRect l="0" t="0" r="0" b="0"/>
            </a:stretch>
          </a:blipFill>
        </p:spPr>
      </p:sp>
      <p:sp>
        <p:nvSpPr>
          <p:cNvPr name="Freeform 10" id="10"/>
          <p:cNvSpPr/>
          <p:nvPr/>
        </p:nvSpPr>
        <p:spPr>
          <a:xfrm flipH="false" flipV="false" rot="0">
            <a:off x="9464646" y="3899860"/>
            <a:ext cx="7794654" cy="4628076"/>
          </a:xfrm>
          <a:custGeom>
            <a:avLst/>
            <a:gdLst/>
            <a:ahLst/>
            <a:cxnLst/>
            <a:rect r="r" b="b" t="t" l="l"/>
            <a:pathLst>
              <a:path h="4628076" w="7794654">
                <a:moveTo>
                  <a:pt x="0" y="0"/>
                </a:moveTo>
                <a:lnTo>
                  <a:pt x="7794654" y="0"/>
                </a:lnTo>
                <a:lnTo>
                  <a:pt x="7794654" y="4628076"/>
                </a:lnTo>
                <a:lnTo>
                  <a:pt x="0" y="4628076"/>
                </a:lnTo>
                <a:lnTo>
                  <a:pt x="0" y="0"/>
                </a:lnTo>
                <a:close/>
              </a:path>
            </a:pathLst>
          </a:custGeom>
          <a:blipFill>
            <a:blip r:embed="rId4"/>
            <a:stretch>
              <a:fillRect l="0" t="0" r="0" b="0"/>
            </a:stretch>
          </a:blipFill>
        </p:spPr>
      </p:sp>
      <p:sp>
        <p:nvSpPr>
          <p:cNvPr name="TextBox 11" id="11"/>
          <p:cNvSpPr txBox="true"/>
          <p:nvPr/>
        </p:nvSpPr>
        <p:spPr>
          <a:xfrm rot="0">
            <a:off x="1328867" y="8699785"/>
            <a:ext cx="7576500"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Residual / Error Distribution</a:t>
            </a:r>
          </a:p>
        </p:txBody>
      </p:sp>
      <p:sp>
        <p:nvSpPr>
          <p:cNvPr name="TextBox 12" id="12"/>
          <p:cNvSpPr txBox="true"/>
          <p:nvPr/>
        </p:nvSpPr>
        <p:spPr>
          <a:xfrm rot="0">
            <a:off x="9439096" y="8699785"/>
            <a:ext cx="7702454" cy="433627"/>
          </a:xfrm>
          <a:prstGeom prst="rect">
            <a:avLst/>
          </a:prstGeom>
        </p:spPr>
        <p:txBody>
          <a:bodyPr anchor="t" rtlCol="false" tIns="0" lIns="0" bIns="0" rIns="0">
            <a:spAutoFit/>
          </a:bodyPr>
          <a:lstStyle/>
          <a:p>
            <a:pPr algn="ctr">
              <a:lnSpc>
                <a:spcPts val="3399"/>
              </a:lnSpc>
              <a:spcBef>
                <a:spcPct val="0"/>
              </a:spcBef>
            </a:pPr>
            <a:r>
              <a:rPr lang="en-US" sz="2428">
                <a:solidFill>
                  <a:srgbClr val="000000"/>
                </a:solidFill>
                <a:latin typeface="Poppins"/>
                <a:ea typeface="Poppins"/>
                <a:cs typeface="Poppins"/>
                <a:sym typeface="Poppins"/>
              </a:rPr>
              <a:t>Feature Importance</a:t>
            </a:r>
          </a:p>
        </p:txBody>
      </p:sp>
      <p:sp>
        <p:nvSpPr>
          <p:cNvPr name="TextBox 13" id="13"/>
          <p:cNvSpPr txBox="true"/>
          <p:nvPr/>
        </p:nvSpPr>
        <p:spPr>
          <a:xfrm rot="0">
            <a:off x="5638969" y="363245"/>
            <a:ext cx="7651354" cy="770217"/>
          </a:xfrm>
          <a:prstGeom prst="rect">
            <a:avLst/>
          </a:prstGeom>
        </p:spPr>
        <p:txBody>
          <a:bodyPr anchor="t" rtlCol="false" tIns="0" lIns="0" bIns="0" rIns="0">
            <a:spAutoFit/>
          </a:bodyPr>
          <a:lstStyle/>
          <a:p>
            <a:pPr algn="ctr">
              <a:lnSpc>
                <a:spcPts val="6372"/>
              </a:lnSpc>
            </a:pPr>
            <a:r>
              <a:rPr lang="en-US" sz="4551">
                <a:solidFill>
                  <a:srgbClr val="FFFFFF"/>
                </a:solidFill>
                <a:latin typeface="Roboto"/>
                <a:ea typeface="Roboto"/>
                <a:cs typeface="Roboto"/>
                <a:sym typeface="Roboto"/>
              </a:rPr>
              <a:t>VISUALIZATIONS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57175" y="9754130"/>
            <a:ext cx="18802350" cy="1715783"/>
            <a:chOff x="0" y="0"/>
            <a:chExt cx="4952059" cy="451893"/>
          </a:xfrm>
        </p:grpSpPr>
        <p:sp>
          <p:nvSpPr>
            <p:cNvPr name="Freeform 7" id="7"/>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8" id="8"/>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7471259" y="258483"/>
            <a:ext cx="3855896" cy="770217"/>
          </a:xfrm>
          <a:prstGeom prst="rect">
            <a:avLst/>
          </a:prstGeom>
        </p:spPr>
        <p:txBody>
          <a:bodyPr anchor="t" rtlCol="false" tIns="0" lIns="0" bIns="0" rIns="0">
            <a:spAutoFit/>
          </a:bodyPr>
          <a:lstStyle/>
          <a:p>
            <a:pPr algn="l">
              <a:lnSpc>
                <a:spcPts val="6372"/>
              </a:lnSpc>
            </a:pPr>
            <a:r>
              <a:rPr lang="en-US" sz="4551">
                <a:solidFill>
                  <a:srgbClr val="FFFFFF"/>
                </a:solidFill>
                <a:latin typeface="Roboto"/>
                <a:ea typeface="Roboto"/>
                <a:cs typeface="Roboto"/>
                <a:sym typeface="Roboto"/>
              </a:rPr>
              <a:t>DISSCUSSION</a:t>
            </a:r>
          </a:p>
        </p:txBody>
      </p:sp>
      <p:sp>
        <p:nvSpPr>
          <p:cNvPr name="TextBox 10" id="10"/>
          <p:cNvSpPr txBox="true"/>
          <p:nvPr/>
        </p:nvSpPr>
        <p:spPr>
          <a:xfrm rot="0">
            <a:off x="321960" y="2275094"/>
            <a:ext cx="17237228" cy="6983206"/>
          </a:xfrm>
          <a:prstGeom prst="rect">
            <a:avLst/>
          </a:prstGeom>
        </p:spPr>
        <p:txBody>
          <a:bodyPr anchor="t" rtlCol="false" tIns="0" lIns="0" bIns="0" rIns="0">
            <a:spAutoFit/>
          </a:bodyPr>
          <a:lstStyle/>
          <a:p>
            <a:pPr algn="l" marL="716921" indent="-358461" lvl="1">
              <a:lnSpc>
                <a:spcPts val="4648"/>
              </a:lnSpc>
              <a:buFont typeface="Arial"/>
              <a:buChar char="•"/>
            </a:pPr>
            <a:r>
              <a:rPr lang="en-US" sz="3320">
                <a:solidFill>
                  <a:srgbClr val="000000"/>
                </a:solidFill>
                <a:latin typeface="Poppins"/>
                <a:ea typeface="Poppins"/>
                <a:cs typeface="Poppins"/>
                <a:sym typeface="Poppins"/>
              </a:rPr>
              <a:t>Model effectively learns degradation and produces meaningful RUL predictions.</a:t>
            </a:r>
          </a:p>
          <a:p>
            <a:pPr algn="l" marL="716921" indent="-358461" lvl="1">
              <a:lnSpc>
                <a:spcPts val="4648"/>
              </a:lnSpc>
              <a:buFont typeface="Arial"/>
              <a:buChar char="•"/>
            </a:pPr>
            <a:r>
              <a:rPr lang="en-US" sz="3320">
                <a:solidFill>
                  <a:srgbClr val="000000"/>
                </a:solidFill>
                <a:latin typeface="Poppins"/>
                <a:ea typeface="Poppins"/>
                <a:cs typeface="Poppins"/>
                <a:sym typeface="Poppins"/>
              </a:rPr>
              <a:t>Higher testing error due to multi-condition dataset complexity.</a:t>
            </a:r>
          </a:p>
          <a:p>
            <a:pPr algn="l" marL="716921" indent="-358461" lvl="1">
              <a:lnSpc>
                <a:spcPts val="4648"/>
              </a:lnSpc>
              <a:buFont typeface="Arial"/>
              <a:buChar char="•"/>
            </a:pPr>
            <a:r>
              <a:rPr lang="en-US" sz="3320">
                <a:solidFill>
                  <a:srgbClr val="000000"/>
                </a:solidFill>
                <a:latin typeface="Poppins"/>
                <a:ea typeface="Poppins"/>
                <a:cs typeface="Poppins"/>
                <a:sym typeface="Poppins"/>
              </a:rPr>
              <a:t>Offers a simple, interpretable, and real-time-friendly alternative to heavy deep models.</a:t>
            </a:r>
          </a:p>
          <a:p>
            <a:pPr algn="l" marL="716921" indent="-358461" lvl="1">
              <a:lnSpc>
                <a:spcPts val="4648"/>
              </a:lnSpc>
              <a:buFont typeface="Arial"/>
              <a:buChar char="•"/>
            </a:pPr>
            <a:r>
              <a:rPr lang="en-US" sz="3320">
                <a:solidFill>
                  <a:srgbClr val="000000"/>
                </a:solidFill>
                <a:latin typeface="Poppins"/>
                <a:ea typeface="Poppins"/>
                <a:cs typeface="Poppins"/>
                <a:sym typeface="Poppins"/>
              </a:rPr>
              <a:t>Successfully captures temporal degradation patterns while maintaining deployment feasibility for real-time aircraft systems</a:t>
            </a:r>
          </a:p>
          <a:p>
            <a:pPr algn="l" marL="716921" indent="-358461" lvl="1">
              <a:lnSpc>
                <a:spcPts val="4648"/>
              </a:lnSpc>
              <a:buFont typeface="Arial"/>
              <a:buChar char="•"/>
            </a:pPr>
            <a:r>
              <a:rPr lang="en-US" sz="3320">
                <a:solidFill>
                  <a:srgbClr val="000000"/>
                </a:solidFill>
                <a:latin typeface="Poppins"/>
                <a:ea typeface="Poppins"/>
                <a:cs typeface="Poppins"/>
                <a:sym typeface="Poppins"/>
              </a:rPr>
              <a:t>Hybrid model achieved moderate accuracy (RMSE: 62.02) with high interpretability and computational efficiency</a:t>
            </a:r>
          </a:p>
          <a:p>
            <a:pPr algn="l" marL="716921" indent="-358461" lvl="1">
              <a:lnSpc>
                <a:spcPts val="4648"/>
              </a:lnSpc>
              <a:buFont typeface="Arial"/>
              <a:buChar char="•"/>
            </a:pPr>
            <a:r>
              <a:rPr lang="en-US" sz="3320">
                <a:solidFill>
                  <a:srgbClr val="000000"/>
                </a:solidFill>
                <a:latin typeface="Poppins"/>
                <a:ea typeface="Poppins"/>
                <a:cs typeface="Poppins"/>
                <a:sym typeface="Poppins"/>
              </a:rPr>
              <a:t>Successfully captures temporal degradation patterns while maintaining deployment feasibility for real-time aircraft systems</a:t>
            </a:r>
          </a:p>
          <a:p>
            <a:pPr algn="l">
              <a:lnSpc>
                <a:spcPts val="4648"/>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638969" y="363245"/>
            <a:ext cx="7651354" cy="770217"/>
          </a:xfrm>
          <a:prstGeom prst="rect">
            <a:avLst/>
          </a:prstGeom>
        </p:spPr>
        <p:txBody>
          <a:bodyPr anchor="t" rtlCol="false" tIns="0" lIns="0" bIns="0" rIns="0">
            <a:spAutoFit/>
          </a:bodyPr>
          <a:lstStyle/>
          <a:p>
            <a:pPr algn="ctr">
              <a:lnSpc>
                <a:spcPts val="6372"/>
              </a:lnSpc>
            </a:pPr>
            <a:r>
              <a:rPr lang="en-US" sz="4551">
                <a:solidFill>
                  <a:srgbClr val="FFFFFF"/>
                </a:solidFill>
                <a:latin typeface="Roboto"/>
                <a:ea typeface="Roboto"/>
                <a:cs typeface="Roboto"/>
                <a:sym typeface="Roboto"/>
              </a:rPr>
              <a:t>FUTURE SCOPE</a:t>
            </a:r>
          </a:p>
        </p:txBody>
      </p:sp>
      <p:grpSp>
        <p:nvGrpSpPr>
          <p:cNvPr name="Group 7" id="7"/>
          <p:cNvGrpSpPr/>
          <p:nvPr/>
        </p:nvGrpSpPr>
        <p:grpSpPr>
          <a:xfrm rot="0">
            <a:off x="-257175" y="9754130"/>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2203350"/>
            <a:ext cx="16230600" cy="5958205"/>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Poppins Bold"/>
                <a:ea typeface="Poppins Bold"/>
                <a:cs typeface="Poppins Bold"/>
                <a:sym typeface="Poppins Bold"/>
              </a:rPr>
              <a:t>Att</a:t>
            </a:r>
            <a:r>
              <a:rPr lang="en-US" b="true" sz="2799">
                <a:solidFill>
                  <a:srgbClr val="000000"/>
                </a:solidFill>
                <a:latin typeface="Poppins Bold"/>
                <a:ea typeface="Poppins Bold"/>
                <a:cs typeface="Poppins Bold"/>
                <a:sym typeface="Poppins Bold"/>
              </a:rPr>
              <a:t>ention Mechanisms: </a:t>
            </a:r>
            <a:r>
              <a:rPr lang="en-US" sz="2799">
                <a:solidFill>
                  <a:srgbClr val="000000"/>
                </a:solidFill>
                <a:latin typeface="Poppins"/>
                <a:ea typeface="Poppins"/>
                <a:cs typeface="Poppins"/>
                <a:sym typeface="Poppins"/>
              </a:rPr>
              <a:t>Add self-attention or Transformer layers to improve feature extraction, focus on key sensor patterns, and enhance interpretability.</a:t>
            </a:r>
          </a:p>
          <a:p>
            <a:pPr algn="l">
              <a:lnSpc>
                <a:spcPts val="3919"/>
              </a:lnSpc>
              <a:spcBef>
                <a:spcPct val="0"/>
              </a:spcBef>
            </a:pPr>
            <a:r>
              <a:rPr lang="en-US" b="true" sz="2799">
                <a:solidFill>
                  <a:srgbClr val="000000"/>
                </a:solidFill>
                <a:latin typeface="Poppins Bold"/>
                <a:ea typeface="Poppins Bold"/>
                <a:cs typeface="Poppins Bold"/>
                <a:sym typeface="Poppins Bold"/>
              </a:rPr>
              <a:t>Advanced Optimization: </a:t>
            </a:r>
            <a:r>
              <a:rPr lang="en-US" sz="2799">
                <a:solidFill>
                  <a:srgbClr val="000000"/>
                </a:solidFill>
                <a:latin typeface="Poppins"/>
                <a:ea typeface="Poppins"/>
                <a:cs typeface="Poppins"/>
                <a:sym typeface="Poppins"/>
              </a:rPr>
              <a:t>Use Bayesian/evolutionary hyperparameter tuning, LR schedulers, regularization, and optimized bottleneck sizes.</a:t>
            </a:r>
          </a:p>
          <a:p>
            <a:pPr algn="l">
              <a:lnSpc>
                <a:spcPts val="3919"/>
              </a:lnSpc>
              <a:spcBef>
                <a:spcPct val="0"/>
              </a:spcBef>
            </a:pPr>
            <a:r>
              <a:rPr lang="en-US" b="true" sz="2799">
                <a:solidFill>
                  <a:srgbClr val="000000"/>
                </a:solidFill>
                <a:latin typeface="Poppins Bold"/>
                <a:ea typeface="Poppins Bold"/>
                <a:cs typeface="Poppins Bold"/>
                <a:sym typeface="Poppins Bold"/>
              </a:rPr>
              <a:t>New Architectures: </a:t>
            </a:r>
            <a:r>
              <a:rPr lang="en-US" sz="2799">
                <a:solidFill>
                  <a:srgbClr val="000000"/>
                </a:solidFill>
                <a:latin typeface="Poppins"/>
                <a:ea typeface="Poppins"/>
                <a:cs typeface="Poppins"/>
                <a:sym typeface="Poppins"/>
              </a:rPr>
              <a:t>Explore Transformer-based models (TFT, Informer), Capsule Networks, and GNNs for richer temporal and sensor fusion learning.</a:t>
            </a:r>
          </a:p>
          <a:p>
            <a:pPr algn="l">
              <a:lnSpc>
                <a:spcPts val="3919"/>
              </a:lnSpc>
              <a:spcBef>
                <a:spcPct val="0"/>
              </a:spcBef>
            </a:pPr>
            <a:r>
              <a:rPr lang="en-US" b="true" sz="2799">
                <a:solidFill>
                  <a:srgbClr val="000000"/>
                </a:solidFill>
                <a:latin typeface="Poppins Bold"/>
                <a:ea typeface="Poppins Bold"/>
                <a:cs typeface="Poppins Bold"/>
                <a:sym typeface="Poppins Bold"/>
              </a:rPr>
              <a:t>Online Learning: </a:t>
            </a:r>
            <a:r>
              <a:rPr lang="en-US" sz="2799">
                <a:solidFill>
                  <a:srgbClr val="000000"/>
                </a:solidFill>
                <a:latin typeface="Poppins"/>
                <a:ea typeface="Poppins"/>
                <a:cs typeface="Poppins"/>
                <a:sym typeface="Poppins"/>
              </a:rPr>
              <a:t>Enable real-time model updates to handle sensor drift, new fault modes, and changing operating conditions.</a:t>
            </a:r>
          </a:p>
          <a:p>
            <a:pPr algn="l">
              <a:lnSpc>
                <a:spcPts val="3919"/>
              </a:lnSpc>
              <a:spcBef>
                <a:spcPct val="0"/>
              </a:spcBef>
            </a:pPr>
            <a:r>
              <a:rPr lang="en-US" b="true" sz="2799">
                <a:solidFill>
                  <a:srgbClr val="000000"/>
                </a:solidFill>
                <a:latin typeface="Poppins Bold"/>
                <a:ea typeface="Poppins Bold"/>
                <a:cs typeface="Poppins Bold"/>
                <a:sym typeface="Poppins Bold"/>
              </a:rPr>
              <a:t>Uncertainty &amp; Explainability: </a:t>
            </a:r>
            <a:r>
              <a:rPr lang="en-US" sz="2799">
                <a:solidFill>
                  <a:srgbClr val="000000"/>
                </a:solidFill>
                <a:latin typeface="Poppins"/>
                <a:ea typeface="Poppins"/>
                <a:cs typeface="Poppins"/>
                <a:sym typeface="Poppins"/>
              </a:rPr>
              <a:t>Apply Bayesian methods, MC dropout, SHAP, and attention visualizations for confidence estimation and transparency.</a:t>
            </a:r>
          </a:p>
          <a:p>
            <a:pPr algn="l">
              <a:lnSpc>
                <a:spcPts val="3919"/>
              </a:lnSpc>
              <a:spcBef>
                <a:spcPct val="0"/>
              </a:spcBef>
            </a:pPr>
            <a:r>
              <a:rPr lang="en-US" b="true" sz="2799">
                <a:solidFill>
                  <a:srgbClr val="000000"/>
                </a:solidFill>
                <a:latin typeface="Poppins Bold"/>
                <a:ea typeface="Poppins Bold"/>
                <a:cs typeface="Poppins Bold"/>
                <a:sym typeface="Poppins Bold"/>
              </a:rPr>
              <a:t>Multimodal Fusion: </a:t>
            </a:r>
            <a:r>
              <a:rPr lang="en-US" sz="2799">
                <a:solidFill>
                  <a:srgbClr val="000000"/>
                </a:solidFill>
                <a:latin typeface="Poppins"/>
                <a:ea typeface="Poppins"/>
                <a:cs typeface="Poppins"/>
                <a:sym typeface="Poppins"/>
              </a:rPr>
              <a:t>Integrate logs, environmental data, and maintenance records for stronger and more robust RUL predictions.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342246"/>
            <a:ext cx="18802350" cy="1715783"/>
            <a:chOff x="0" y="0"/>
            <a:chExt cx="4952059" cy="451893"/>
          </a:xfrm>
        </p:grpSpPr>
        <p:sp>
          <p:nvSpPr>
            <p:cNvPr name="Freeform 4" id="4"/>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638969" y="363245"/>
            <a:ext cx="7651354" cy="770217"/>
          </a:xfrm>
          <a:prstGeom prst="rect">
            <a:avLst/>
          </a:prstGeom>
        </p:spPr>
        <p:txBody>
          <a:bodyPr anchor="t" rtlCol="false" tIns="0" lIns="0" bIns="0" rIns="0">
            <a:spAutoFit/>
          </a:bodyPr>
          <a:lstStyle/>
          <a:p>
            <a:pPr algn="ctr">
              <a:lnSpc>
                <a:spcPts val="6372"/>
              </a:lnSpc>
            </a:pPr>
            <a:r>
              <a:rPr lang="en-US" sz="4551">
                <a:solidFill>
                  <a:srgbClr val="FFFFFF"/>
                </a:solidFill>
                <a:latin typeface="Roboto"/>
                <a:ea typeface="Roboto"/>
                <a:cs typeface="Roboto"/>
                <a:sym typeface="Roboto"/>
              </a:rPr>
              <a:t>CONCLUSION</a:t>
            </a:r>
          </a:p>
        </p:txBody>
      </p:sp>
      <p:grpSp>
        <p:nvGrpSpPr>
          <p:cNvPr name="Group 7" id="7"/>
          <p:cNvGrpSpPr/>
          <p:nvPr/>
        </p:nvGrpSpPr>
        <p:grpSpPr>
          <a:xfrm rot="0">
            <a:off x="-257175" y="9754130"/>
            <a:ext cx="18802350" cy="1715783"/>
            <a:chOff x="0" y="0"/>
            <a:chExt cx="4952059" cy="451893"/>
          </a:xfrm>
        </p:grpSpPr>
        <p:sp>
          <p:nvSpPr>
            <p:cNvPr name="Freeform 8" id="8"/>
            <p:cNvSpPr/>
            <p:nvPr/>
          </p:nvSpPr>
          <p:spPr>
            <a:xfrm flipH="false" flipV="false" rot="0">
              <a:off x="0" y="0"/>
              <a:ext cx="4952059" cy="451893"/>
            </a:xfrm>
            <a:custGeom>
              <a:avLst/>
              <a:gdLst/>
              <a:ahLst/>
              <a:cxnLst/>
              <a:rect r="r" b="b" t="t" l="l"/>
              <a:pathLst>
                <a:path h="451893" w="4952059">
                  <a:moveTo>
                    <a:pt x="20999" y="0"/>
                  </a:moveTo>
                  <a:lnTo>
                    <a:pt x="4931060" y="0"/>
                  </a:lnTo>
                  <a:cubicBezTo>
                    <a:pt x="4936629" y="0"/>
                    <a:pt x="4941970" y="2212"/>
                    <a:pt x="4945909" y="6151"/>
                  </a:cubicBezTo>
                  <a:cubicBezTo>
                    <a:pt x="4949847" y="10089"/>
                    <a:pt x="4952059" y="15430"/>
                    <a:pt x="4952059" y="20999"/>
                  </a:cubicBezTo>
                  <a:lnTo>
                    <a:pt x="4952059" y="430894"/>
                  </a:lnTo>
                  <a:cubicBezTo>
                    <a:pt x="4952059" y="442492"/>
                    <a:pt x="4942658" y="451893"/>
                    <a:pt x="4931060" y="451893"/>
                  </a:cubicBezTo>
                  <a:lnTo>
                    <a:pt x="20999" y="451893"/>
                  </a:lnTo>
                  <a:cubicBezTo>
                    <a:pt x="15430" y="451893"/>
                    <a:pt x="10089" y="449681"/>
                    <a:pt x="6151" y="445743"/>
                  </a:cubicBezTo>
                  <a:cubicBezTo>
                    <a:pt x="2212" y="441805"/>
                    <a:pt x="0" y="436463"/>
                    <a:pt x="0" y="43089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9" id="9"/>
            <p:cNvSpPr txBox="true"/>
            <p:nvPr/>
          </p:nvSpPr>
          <p:spPr>
            <a:xfrm>
              <a:off x="0" y="-47625"/>
              <a:ext cx="4952059" cy="499518"/>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2046568"/>
            <a:ext cx="16230600" cy="6948805"/>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Poppins"/>
                <a:ea typeface="Poppins"/>
                <a:cs typeface="Poppins"/>
                <a:sym typeface="Poppins"/>
              </a:rPr>
              <a:t>Developed a hybrid ML framework that accurately predicts aircraft engine RUL using multivariate sensor data.</a:t>
            </a:r>
          </a:p>
          <a:p>
            <a:pPr algn="l">
              <a:lnSpc>
                <a:spcPts val="3919"/>
              </a:lnSpc>
              <a:spcBef>
                <a:spcPct val="0"/>
              </a:spcBef>
            </a:pPr>
            <a:r>
              <a:rPr lang="en-US" sz="2799">
                <a:solidFill>
                  <a:srgbClr val="000000"/>
                </a:solidFill>
                <a:latin typeface="Poppins"/>
                <a:ea typeface="Poppins"/>
                <a:cs typeface="Poppins"/>
                <a:sym typeface="Poppins"/>
              </a:rPr>
              <a:t>Combined feature engineering, noise reduction, and temporal modeling to capture complex nonlinear degradation patterns.</a:t>
            </a:r>
          </a:p>
          <a:p>
            <a:pPr algn="l">
              <a:lnSpc>
                <a:spcPts val="3919"/>
              </a:lnSpc>
              <a:spcBef>
                <a:spcPct val="0"/>
              </a:spcBef>
            </a:pPr>
            <a:r>
              <a:rPr lang="en-US" sz="2799">
                <a:solidFill>
                  <a:srgbClr val="000000"/>
                </a:solidFill>
                <a:latin typeface="Poppins"/>
                <a:ea typeface="Poppins"/>
                <a:cs typeface="Poppins"/>
                <a:sym typeface="Poppins"/>
              </a:rPr>
              <a:t>Hybrid model (linear + LSTM) showed better generalization and lower prediction errors than classical methods.</a:t>
            </a:r>
          </a:p>
          <a:p>
            <a:pPr algn="l">
              <a:lnSpc>
                <a:spcPts val="3919"/>
              </a:lnSpc>
              <a:spcBef>
                <a:spcPct val="0"/>
              </a:spcBef>
            </a:pPr>
            <a:r>
              <a:rPr lang="en-US" sz="2799">
                <a:solidFill>
                  <a:srgbClr val="000000"/>
                </a:solidFill>
                <a:latin typeface="Poppins"/>
                <a:ea typeface="Poppins"/>
                <a:cs typeface="Poppins"/>
                <a:sym typeface="Poppins"/>
              </a:rPr>
              <a:t>Achieved a strong balance between accuracy and interpretability, crucial for safety-critical aerospace applications.</a:t>
            </a:r>
          </a:p>
          <a:p>
            <a:pPr algn="l">
              <a:lnSpc>
                <a:spcPts val="3919"/>
              </a:lnSpc>
              <a:spcBef>
                <a:spcPct val="0"/>
              </a:spcBef>
            </a:pPr>
            <a:r>
              <a:rPr lang="en-US" sz="2799">
                <a:solidFill>
                  <a:srgbClr val="000000"/>
                </a:solidFill>
                <a:latin typeface="Poppins"/>
                <a:ea typeface="Poppins"/>
                <a:cs typeface="Poppins"/>
                <a:sym typeface="Poppins"/>
              </a:rPr>
              <a:t>Lightweight architecture supports potential real-time deployment in aircraft monitoring systems.</a:t>
            </a:r>
          </a:p>
          <a:p>
            <a:pPr algn="l">
              <a:lnSpc>
                <a:spcPts val="3919"/>
              </a:lnSpc>
              <a:spcBef>
                <a:spcPct val="0"/>
              </a:spcBef>
            </a:pPr>
            <a:r>
              <a:rPr lang="en-US" sz="2799">
                <a:solidFill>
                  <a:srgbClr val="000000"/>
                </a:solidFill>
                <a:latin typeface="Poppins"/>
                <a:ea typeface="Poppins"/>
                <a:cs typeface="Poppins"/>
                <a:sym typeface="Poppins"/>
              </a:rPr>
              <a:t>Limitations include scalability to diverse real-world conditions and handling long-term sensor drift.</a:t>
            </a:r>
          </a:p>
          <a:p>
            <a:pPr algn="l">
              <a:lnSpc>
                <a:spcPts val="3919"/>
              </a:lnSpc>
              <a:spcBef>
                <a:spcPct val="0"/>
              </a:spcBef>
            </a:pPr>
            <a:r>
              <a:rPr lang="en-US" sz="2799">
                <a:solidFill>
                  <a:srgbClr val="000000"/>
                </a:solidFill>
                <a:latin typeface="Poppins"/>
                <a:ea typeface="Poppins"/>
                <a:cs typeface="Poppins"/>
                <a:sym typeface="Poppins"/>
              </a:rPr>
              <a:t>Lays a solid foundation for predictive maintenance; future enhancements include transfer learning, multimodal sensor fusion, and uncertainty quantification.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38682" y="492683"/>
            <a:ext cx="9010636" cy="967259"/>
          </a:xfrm>
          <a:prstGeom prst="rect">
            <a:avLst/>
          </a:prstGeom>
        </p:spPr>
        <p:txBody>
          <a:bodyPr anchor="t" rtlCol="false" tIns="0" lIns="0" bIns="0" rIns="0">
            <a:spAutoFit/>
          </a:bodyPr>
          <a:lstStyle/>
          <a:p>
            <a:pPr algn="ctr">
              <a:lnSpc>
                <a:spcPts val="7940"/>
              </a:lnSpc>
            </a:pPr>
            <a:r>
              <a:rPr lang="en-US" sz="5672">
                <a:solidFill>
                  <a:srgbClr val="004AAD"/>
                </a:solidFill>
                <a:latin typeface="League Spartan"/>
                <a:ea typeface="League Spartan"/>
                <a:cs typeface="League Spartan"/>
                <a:sym typeface="League Spartan"/>
              </a:rPr>
              <a:t>REFERENCES</a:t>
            </a:r>
          </a:p>
        </p:txBody>
      </p:sp>
      <p:sp>
        <p:nvSpPr>
          <p:cNvPr name="TextBox 4" id="4"/>
          <p:cNvSpPr txBox="true"/>
          <p:nvPr/>
        </p:nvSpPr>
        <p:spPr>
          <a:xfrm rot="0">
            <a:off x="1028700" y="1453515"/>
            <a:ext cx="16230600" cy="8202295"/>
          </a:xfrm>
          <a:prstGeom prst="rect">
            <a:avLst/>
          </a:prstGeom>
        </p:spPr>
        <p:txBody>
          <a:bodyPr anchor="t" rtlCol="false" tIns="0" lIns="0" bIns="0" rIns="0">
            <a:spAutoFit/>
          </a:bodyPr>
          <a:lstStyle/>
          <a:p>
            <a:pPr algn="l">
              <a:lnSpc>
                <a:spcPts val="3079"/>
              </a:lnSpc>
              <a:spcBef>
                <a:spcPct val="0"/>
              </a:spcBef>
            </a:pPr>
            <a:r>
              <a:rPr lang="en-US" b="true" sz="2199">
                <a:solidFill>
                  <a:srgbClr val="004AAD"/>
                </a:solidFill>
                <a:latin typeface="Poppins Bold"/>
                <a:ea typeface="Poppins Bold"/>
                <a:cs typeface="Poppins Bold"/>
                <a:sym typeface="Poppins Bold"/>
              </a:rPr>
              <a:t>[1] A. Kumar, S. Reddy, and N. Sharma, “Jet Engine Remaining Useful Life Prediction Using Machine Learning and Deep Learning Techniques,”</a:t>
            </a:r>
          </a:p>
          <a:p>
            <a:pPr algn="l">
              <a:lnSpc>
                <a:spcPts val="3079"/>
              </a:lnSpc>
              <a:spcBef>
                <a:spcPct val="0"/>
              </a:spcBef>
            </a:pPr>
            <a:r>
              <a:rPr lang="en-US" b="true" sz="2199">
                <a:solidFill>
                  <a:srgbClr val="004AAD"/>
                </a:solidFill>
                <a:latin typeface="Poppins Bold"/>
                <a:ea typeface="Poppins Bold"/>
                <a:cs typeface="Poppins Bold"/>
                <a:sym typeface="Poppins Bold"/>
              </a:rPr>
              <a:t> Journal of Advanced Computing and Artificial Intelligence, vol. 9, no. 2, pp. 44–52, 2023.</a:t>
            </a:r>
          </a:p>
          <a:p>
            <a:pPr algn="l">
              <a:lnSpc>
                <a:spcPts val="3079"/>
              </a:lnSpc>
              <a:spcBef>
                <a:spcPct val="0"/>
              </a:spcBef>
            </a:pPr>
            <a:r>
              <a:rPr lang="en-US" b="true" sz="2199">
                <a:solidFill>
                  <a:srgbClr val="004AAD"/>
                </a:solidFill>
                <a:latin typeface="Poppins Bold"/>
                <a:ea typeface="Poppins Bold"/>
                <a:cs typeface="Poppins Bold"/>
                <a:sym typeface="Poppins Bold"/>
              </a:rPr>
              <a:t> (Uses Linear Regression, Random Forest, CNN, and LSTM models on NASA C-MAPSS dataset to compare machine and deep learning approaches.)</a:t>
            </a:r>
          </a:p>
          <a:p>
            <a:pPr algn="l">
              <a:lnSpc>
                <a:spcPts val="3079"/>
              </a:lnSpc>
              <a:spcBef>
                <a:spcPct val="0"/>
              </a:spcBef>
            </a:pPr>
            <a:r>
              <a:rPr lang="en-US" b="true" sz="2199">
                <a:solidFill>
                  <a:srgbClr val="004AAD"/>
                </a:solidFill>
                <a:latin typeface="Poppins Bold"/>
                <a:ea typeface="Poppins Bold"/>
                <a:cs typeface="Poppins Bold"/>
                <a:sym typeface="Poppins Bold"/>
              </a:rPr>
              <a:t>[2] S. R. Patil and V. Singh, “A Comparative Study on Remaining Useful Life Prediction Using Machine Learning and Hybrid Models,”</a:t>
            </a:r>
          </a:p>
          <a:p>
            <a:pPr algn="l">
              <a:lnSpc>
                <a:spcPts val="3079"/>
              </a:lnSpc>
              <a:spcBef>
                <a:spcPct val="0"/>
              </a:spcBef>
            </a:pPr>
            <a:r>
              <a:rPr lang="en-US" b="true" sz="2199">
                <a:solidFill>
                  <a:srgbClr val="004AAD"/>
                </a:solidFill>
                <a:latin typeface="Poppins Bold"/>
                <a:ea typeface="Poppins Bold"/>
                <a:cs typeface="Poppins Bold"/>
                <a:sym typeface="Poppins Bold"/>
              </a:rPr>
              <a:t> Indian Research Journal of Engineering and Technology (IRJET), vol. 10, no. 4, pp. 102–110, Apr. 2023.</a:t>
            </a:r>
          </a:p>
          <a:p>
            <a:pPr algn="l">
              <a:lnSpc>
                <a:spcPts val="3079"/>
              </a:lnSpc>
              <a:spcBef>
                <a:spcPct val="0"/>
              </a:spcBef>
            </a:pPr>
            <a:r>
              <a:rPr lang="en-US" b="true" sz="2199">
                <a:solidFill>
                  <a:srgbClr val="004AAD"/>
                </a:solidFill>
                <a:latin typeface="Poppins Bold"/>
                <a:ea typeface="Poppins Bold"/>
                <a:cs typeface="Poppins Bold"/>
                <a:sym typeface="Poppins Bold"/>
              </a:rPr>
              <a:t> (Proposes PCA–Bidirectional LSTM hybrid model and evaluates it on NASA C-MAPSS dataset.)</a:t>
            </a:r>
          </a:p>
          <a:p>
            <a:pPr algn="l">
              <a:lnSpc>
                <a:spcPts val="3079"/>
              </a:lnSpc>
              <a:spcBef>
                <a:spcPct val="0"/>
              </a:spcBef>
            </a:pPr>
            <a:r>
              <a:rPr lang="en-US" b="true" sz="2199">
                <a:solidFill>
                  <a:srgbClr val="004AAD"/>
                </a:solidFill>
                <a:latin typeface="Poppins Bold"/>
                <a:ea typeface="Poppins Bold"/>
                <a:cs typeface="Poppins Bold"/>
                <a:sym typeface="Poppins Bold"/>
              </a:rPr>
              <a:t>[3] L. Chen, Y. Zhang, and M. Li, “Predictive Maintenance Scheduling for Aircraft Engines Based on Remaining Useful Life Prediction,”</a:t>
            </a:r>
          </a:p>
          <a:p>
            <a:pPr algn="l">
              <a:lnSpc>
                <a:spcPts val="3079"/>
              </a:lnSpc>
              <a:spcBef>
                <a:spcPct val="0"/>
              </a:spcBef>
            </a:pPr>
            <a:r>
              <a:rPr lang="en-US" b="true" sz="2199">
                <a:solidFill>
                  <a:srgbClr val="004AAD"/>
                </a:solidFill>
                <a:latin typeface="Poppins Bold"/>
                <a:ea typeface="Poppins Bold"/>
                <a:cs typeface="Poppins Bold"/>
                <a:sym typeface="Poppins Bold"/>
              </a:rPr>
              <a:t> IEEE Internet of Things Journal, vol. 11, no. 1, pp. 310–322, Jan. 2024.</a:t>
            </a:r>
          </a:p>
          <a:p>
            <a:pPr algn="l">
              <a:lnSpc>
                <a:spcPts val="3079"/>
              </a:lnSpc>
              <a:spcBef>
                <a:spcPct val="0"/>
              </a:spcBef>
            </a:pPr>
            <a:r>
              <a:rPr lang="en-US" b="true" sz="2199">
                <a:solidFill>
                  <a:srgbClr val="004AAD"/>
                </a:solidFill>
                <a:latin typeface="Poppins Bold"/>
                <a:ea typeface="Poppins Bold"/>
                <a:cs typeface="Poppins Bold"/>
                <a:sym typeface="Poppins Bold"/>
              </a:rPr>
              <a:t> (Proposes CNN–BiLSTM–Attention hybrid with Bayesian optimization for RUL-based maintenance planning.)</a:t>
            </a:r>
          </a:p>
          <a:p>
            <a:pPr algn="l">
              <a:lnSpc>
                <a:spcPts val="3079"/>
              </a:lnSpc>
              <a:spcBef>
                <a:spcPct val="0"/>
              </a:spcBef>
            </a:pPr>
            <a:r>
              <a:rPr lang="en-US" b="true" sz="2199">
                <a:solidFill>
                  <a:srgbClr val="004AAD"/>
                </a:solidFill>
                <a:latin typeface="Poppins Bold"/>
                <a:ea typeface="Poppins Bold"/>
                <a:cs typeface="Poppins Bold"/>
                <a:sym typeface="Poppins Bold"/>
              </a:rPr>
              <a:t>[4] J. Wang and K. Lee, “A Multi-Branch Transformer–LSTM Hybrid Model for Remaining Useful Life Prediction of Turbofan Engines,”</a:t>
            </a:r>
          </a:p>
          <a:p>
            <a:pPr algn="l">
              <a:lnSpc>
                <a:spcPts val="3079"/>
              </a:lnSpc>
              <a:spcBef>
                <a:spcPct val="0"/>
              </a:spcBef>
            </a:pPr>
            <a:r>
              <a:rPr lang="en-US" b="true" sz="2199">
                <a:solidFill>
                  <a:srgbClr val="004AAD"/>
                </a:solidFill>
                <a:latin typeface="Poppins Bold"/>
                <a:ea typeface="Poppins Bold"/>
                <a:cs typeface="Poppins Bold"/>
                <a:sym typeface="Poppins Bold"/>
              </a:rPr>
              <a:t> Applied Sciences, vol. 15, no. 9, pp. 9945–9962, 2025.</a:t>
            </a:r>
          </a:p>
          <a:p>
            <a:pPr algn="l">
              <a:lnSpc>
                <a:spcPts val="3079"/>
              </a:lnSpc>
              <a:spcBef>
                <a:spcPct val="0"/>
              </a:spcBef>
            </a:pPr>
            <a:r>
              <a:rPr lang="en-US" b="true" sz="2199">
                <a:solidFill>
                  <a:srgbClr val="004AAD"/>
                </a:solidFill>
                <a:latin typeface="Poppins Bold"/>
                <a:ea typeface="Poppins Bold"/>
                <a:cs typeface="Poppins Bold"/>
                <a:sym typeface="Poppins Bold"/>
              </a:rPr>
              <a:t> (Introduces multi-branch Transformer–LSTM model to handle multi-condition C-MAPSS data.)</a:t>
            </a:r>
          </a:p>
          <a:p>
            <a:pPr algn="l">
              <a:lnSpc>
                <a:spcPts val="3079"/>
              </a:lnSpc>
              <a:spcBef>
                <a:spcPct val="0"/>
              </a:spcBef>
            </a:pPr>
            <a:r>
              <a:rPr lang="en-US" b="true" sz="2199">
                <a:solidFill>
                  <a:srgbClr val="004AAD"/>
                </a:solidFill>
                <a:latin typeface="Poppins Bold"/>
                <a:ea typeface="Poppins Bold"/>
                <a:cs typeface="Poppins Bold"/>
                <a:sym typeface="Poppins Bold"/>
              </a:rPr>
              <a:t>[5] H. Liu, P. Zhao, and T. Xu, “Remaining Useful Life Prediction of Turbofan Engines Using Autoencoder–LSTM Neural Networks,”</a:t>
            </a:r>
          </a:p>
          <a:p>
            <a:pPr algn="l">
              <a:lnSpc>
                <a:spcPts val="3079"/>
              </a:lnSpc>
              <a:spcBef>
                <a:spcPct val="0"/>
              </a:spcBef>
            </a:pPr>
            <a:r>
              <a:rPr lang="en-US" b="true" sz="2199">
                <a:solidFill>
                  <a:srgbClr val="004AAD"/>
                </a:solidFill>
                <a:latin typeface="Poppins Bold"/>
                <a:ea typeface="Poppins Bold"/>
                <a:cs typeface="Poppins Bold"/>
                <a:sym typeface="Poppins Bold"/>
              </a:rPr>
              <a:t> Elsevier Journal of Intelligent Manufacturing Systems, vol. 32, no. 6, pp. 1508–1520, 2025.</a:t>
            </a:r>
          </a:p>
          <a:p>
            <a:pPr algn="l">
              <a:lnSpc>
                <a:spcPts val="3079"/>
              </a:lnSpc>
              <a:spcBef>
                <a:spcPct val="0"/>
              </a:spcBef>
            </a:pPr>
            <a:r>
              <a:rPr lang="en-US" b="true" sz="2199">
                <a:solidFill>
                  <a:srgbClr val="004AAD"/>
                </a:solidFill>
                <a:latin typeface="Poppins Bold"/>
                <a:ea typeface="Poppins Bold"/>
                <a:cs typeface="Poppins Bold"/>
                <a:sym typeface="Poppins Bold"/>
              </a:rPr>
              <a:t> (Proposes Autoencoder–LSTM for RUL estimation, improving accuracy under noisy data conditions.)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DAG01axv4BM</dc:identifier>
  <dcterms:modified xsi:type="dcterms:W3CDTF">2011-08-01T06:04:30Z</dcterms:modified>
  <cp:revision>1</cp:revision>
  <dc:title>Remaining Useful Life Prediction of Aircraft Engines Using Machine Learning and Deep Learning</dc:title>
</cp:coreProperties>
</file>